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31" r:id="rId6"/>
  </p:sldMasterIdLst>
  <p:notesMasterIdLst>
    <p:notesMasterId r:id="rId32"/>
  </p:notesMasterIdLst>
  <p:handoutMasterIdLst>
    <p:handoutMasterId r:id="rId33"/>
  </p:handoutMasterIdLst>
  <p:sldIdLst>
    <p:sldId id="447" r:id="rId7"/>
    <p:sldId id="414" r:id="rId8"/>
    <p:sldId id="339" r:id="rId9"/>
    <p:sldId id="449" r:id="rId10"/>
    <p:sldId id="450" r:id="rId11"/>
    <p:sldId id="451" r:id="rId12"/>
    <p:sldId id="452" r:id="rId13"/>
    <p:sldId id="453" r:id="rId14"/>
    <p:sldId id="454" r:id="rId15"/>
    <p:sldId id="455" r:id="rId16"/>
    <p:sldId id="456" r:id="rId17"/>
    <p:sldId id="457" r:id="rId18"/>
    <p:sldId id="458" r:id="rId19"/>
    <p:sldId id="459" r:id="rId20"/>
    <p:sldId id="460" r:id="rId21"/>
    <p:sldId id="461" r:id="rId22"/>
    <p:sldId id="462" r:id="rId23"/>
    <p:sldId id="463" r:id="rId24"/>
    <p:sldId id="464" r:id="rId25"/>
    <p:sldId id="465" r:id="rId26"/>
    <p:sldId id="466" r:id="rId27"/>
    <p:sldId id="467" r:id="rId28"/>
    <p:sldId id="468" r:id="rId29"/>
    <p:sldId id="469" r:id="rId30"/>
    <p:sldId id="470" r:id="rId31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00"/>
    <a:srgbClr val="00C1DE"/>
    <a:srgbClr val="7F7F7F"/>
    <a:srgbClr val="333E48"/>
    <a:srgbClr val="FF6B00"/>
    <a:srgbClr val="E5ECEB"/>
    <a:srgbClr val="95D600"/>
    <a:srgbClr val="FFC600"/>
    <a:srgbClr val="93E5FF"/>
    <a:srgbClr val="7B7F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3" autoAdjust="0"/>
    <p:restoredTop sz="86608"/>
  </p:normalViewPr>
  <p:slideViewPr>
    <p:cSldViewPr snapToGrid="0">
      <p:cViewPr varScale="1">
        <p:scale>
          <a:sx n="113" d="100"/>
          <a:sy n="113" d="100"/>
        </p:scale>
        <p:origin x="200" y="6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3096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presProps" Target="pres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viewProps" Target="view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5990C8-78C6-2B4A-A0FD-227F0ECD45CC}" type="doc">
      <dgm:prSet loTypeId="urn:microsoft.com/office/officeart/2005/8/layout/cycle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10458ED-D02C-384B-994A-543F80E87DF9}">
      <dgm:prSet phldrT="[Text]"/>
      <dgm:spPr/>
      <dgm:t>
        <a:bodyPr/>
        <a:lstStyle/>
        <a:p>
          <a:r>
            <a:rPr lang="en-GB" dirty="0"/>
            <a:t>Profile</a:t>
          </a:r>
        </a:p>
      </dgm:t>
    </dgm:pt>
    <dgm:pt modelId="{246B7C17-D566-CA4F-A29A-4C2BB88F247D}" type="parTrans" cxnId="{1566B2A5-EBBA-724B-A3CB-C22E9F2F8C1B}">
      <dgm:prSet/>
      <dgm:spPr/>
      <dgm:t>
        <a:bodyPr/>
        <a:lstStyle/>
        <a:p>
          <a:endParaRPr lang="en-GB"/>
        </a:p>
      </dgm:t>
    </dgm:pt>
    <dgm:pt modelId="{60003CD8-3F3A-5448-9767-96ACDC2E142F}" type="sibTrans" cxnId="{1566B2A5-EBBA-724B-A3CB-C22E9F2F8C1B}">
      <dgm:prSet/>
      <dgm:spPr/>
      <dgm:t>
        <a:bodyPr/>
        <a:lstStyle/>
        <a:p>
          <a:endParaRPr lang="en-GB"/>
        </a:p>
      </dgm:t>
    </dgm:pt>
    <dgm:pt modelId="{AF45B1BF-ABDE-6D47-A792-BB8B2105806F}">
      <dgm:prSet phldrT="[Text]"/>
      <dgm:spPr/>
      <dgm:t>
        <a:bodyPr/>
        <a:lstStyle/>
        <a:p>
          <a:r>
            <a:rPr lang="en-GB" dirty="0"/>
            <a:t>Diagnose</a:t>
          </a:r>
        </a:p>
      </dgm:t>
    </dgm:pt>
    <dgm:pt modelId="{FE11AC97-963E-854D-9DEF-4278B0738864}" type="parTrans" cxnId="{33CF4496-E9E1-2347-ACC2-772BB82C6F5C}">
      <dgm:prSet/>
      <dgm:spPr/>
      <dgm:t>
        <a:bodyPr/>
        <a:lstStyle/>
        <a:p>
          <a:endParaRPr lang="en-GB"/>
        </a:p>
      </dgm:t>
    </dgm:pt>
    <dgm:pt modelId="{296D95B1-3438-DB4A-B927-3CD4ACD1F78F}" type="sibTrans" cxnId="{33CF4496-E9E1-2347-ACC2-772BB82C6F5C}">
      <dgm:prSet/>
      <dgm:spPr/>
      <dgm:t>
        <a:bodyPr/>
        <a:lstStyle/>
        <a:p>
          <a:endParaRPr lang="en-GB"/>
        </a:p>
      </dgm:t>
    </dgm:pt>
    <dgm:pt modelId="{B7241C8D-D129-1849-A704-BAEFFB7803D0}">
      <dgm:prSet phldrT="[Text]"/>
      <dgm:spPr/>
      <dgm:t>
        <a:bodyPr/>
        <a:lstStyle/>
        <a:p>
          <a:r>
            <a:rPr lang="en-GB" dirty="0"/>
            <a:t>Fix</a:t>
          </a:r>
        </a:p>
      </dgm:t>
    </dgm:pt>
    <dgm:pt modelId="{94D3BB5C-10B5-C34C-BF8E-A048A70B98D5}" type="parTrans" cxnId="{976C5856-CDB5-1040-B6CB-FF9F12457F73}">
      <dgm:prSet/>
      <dgm:spPr/>
      <dgm:t>
        <a:bodyPr/>
        <a:lstStyle/>
        <a:p>
          <a:endParaRPr lang="en-GB"/>
        </a:p>
      </dgm:t>
    </dgm:pt>
    <dgm:pt modelId="{5AACA939-942E-5B44-956C-8DC3AF950062}" type="sibTrans" cxnId="{976C5856-CDB5-1040-B6CB-FF9F12457F73}">
      <dgm:prSet/>
      <dgm:spPr/>
      <dgm:t>
        <a:bodyPr/>
        <a:lstStyle/>
        <a:p>
          <a:endParaRPr lang="en-GB"/>
        </a:p>
      </dgm:t>
    </dgm:pt>
    <dgm:pt modelId="{BF439FCD-46E0-6B42-AC08-DAB07C98E883}" type="pres">
      <dgm:prSet presAssocID="{465990C8-78C6-2B4A-A0FD-227F0ECD45CC}" presName="Name0" presStyleCnt="0">
        <dgm:presLayoutVars>
          <dgm:dir/>
          <dgm:resizeHandles val="exact"/>
        </dgm:presLayoutVars>
      </dgm:prSet>
      <dgm:spPr/>
    </dgm:pt>
    <dgm:pt modelId="{5AF2DBA9-F4B3-894F-967F-E8FEA45142D6}" type="pres">
      <dgm:prSet presAssocID="{465990C8-78C6-2B4A-A0FD-227F0ECD45CC}" presName="cycle" presStyleCnt="0"/>
      <dgm:spPr/>
    </dgm:pt>
    <dgm:pt modelId="{045165E4-8C50-7D48-A005-3E0FE4849F41}" type="pres">
      <dgm:prSet presAssocID="{710458ED-D02C-384B-994A-543F80E87DF9}" presName="nodeFirstNode" presStyleLbl="node1" presStyleIdx="0" presStyleCnt="3">
        <dgm:presLayoutVars>
          <dgm:bulletEnabled val="1"/>
        </dgm:presLayoutVars>
      </dgm:prSet>
      <dgm:spPr/>
    </dgm:pt>
    <dgm:pt modelId="{B31182FD-350F-8C49-8B27-239C321C83CB}" type="pres">
      <dgm:prSet presAssocID="{60003CD8-3F3A-5448-9767-96ACDC2E142F}" presName="sibTransFirstNode" presStyleLbl="bgShp" presStyleIdx="0" presStyleCnt="1"/>
      <dgm:spPr/>
    </dgm:pt>
    <dgm:pt modelId="{1C656EFD-F51B-D74A-8E38-8CD9E932569F}" type="pres">
      <dgm:prSet presAssocID="{AF45B1BF-ABDE-6D47-A792-BB8B2105806F}" presName="nodeFollowingNodes" presStyleLbl="node1" presStyleIdx="1" presStyleCnt="3">
        <dgm:presLayoutVars>
          <dgm:bulletEnabled val="1"/>
        </dgm:presLayoutVars>
      </dgm:prSet>
      <dgm:spPr/>
    </dgm:pt>
    <dgm:pt modelId="{813B7B8D-AC54-CA49-9910-AA1313CB85C5}" type="pres">
      <dgm:prSet presAssocID="{B7241C8D-D129-1849-A704-BAEFFB7803D0}" presName="nodeFollowingNodes" presStyleLbl="node1" presStyleIdx="2" presStyleCnt="3">
        <dgm:presLayoutVars>
          <dgm:bulletEnabled val="1"/>
        </dgm:presLayoutVars>
      </dgm:prSet>
      <dgm:spPr/>
    </dgm:pt>
  </dgm:ptLst>
  <dgm:cxnLst>
    <dgm:cxn modelId="{6726661A-592F-3243-8DA2-F2281ACABE0E}" type="presOf" srcId="{60003CD8-3F3A-5448-9767-96ACDC2E142F}" destId="{B31182FD-350F-8C49-8B27-239C321C83CB}" srcOrd="0" destOrd="0" presId="urn:microsoft.com/office/officeart/2005/8/layout/cycle3"/>
    <dgm:cxn modelId="{B1B17053-DFAF-EF42-AAAE-8C0633FD2D24}" type="presOf" srcId="{AF45B1BF-ABDE-6D47-A792-BB8B2105806F}" destId="{1C656EFD-F51B-D74A-8E38-8CD9E932569F}" srcOrd="0" destOrd="0" presId="urn:microsoft.com/office/officeart/2005/8/layout/cycle3"/>
    <dgm:cxn modelId="{976C5856-CDB5-1040-B6CB-FF9F12457F73}" srcId="{465990C8-78C6-2B4A-A0FD-227F0ECD45CC}" destId="{B7241C8D-D129-1849-A704-BAEFFB7803D0}" srcOrd="2" destOrd="0" parTransId="{94D3BB5C-10B5-C34C-BF8E-A048A70B98D5}" sibTransId="{5AACA939-942E-5B44-956C-8DC3AF950062}"/>
    <dgm:cxn modelId="{51069085-EF92-B847-B1BE-05C557CEE285}" type="presOf" srcId="{B7241C8D-D129-1849-A704-BAEFFB7803D0}" destId="{813B7B8D-AC54-CA49-9910-AA1313CB85C5}" srcOrd="0" destOrd="0" presId="urn:microsoft.com/office/officeart/2005/8/layout/cycle3"/>
    <dgm:cxn modelId="{33CF4496-E9E1-2347-ACC2-772BB82C6F5C}" srcId="{465990C8-78C6-2B4A-A0FD-227F0ECD45CC}" destId="{AF45B1BF-ABDE-6D47-A792-BB8B2105806F}" srcOrd="1" destOrd="0" parTransId="{FE11AC97-963E-854D-9DEF-4278B0738864}" sibTransId="{296D95B1-3438-DB4A-B927-3CD4ACD1F78F}"/>
    <dgm:cxn modelId="{4E2A5EA1-EA76-D048-95DC-EEDEFD00679A}" type="presOf" srcId="{465990C8-78C6-2B4A-A0FD-227F0ECD45CC}" destId="{BF439FCD-46E0-6B42-AC08-DAB07C98E883}" srcOrd="0" destOrd="0" presId="urn:microsoft.com/office/officeart/2005/8/layout/cycle3"/>
    <dgm:cxn modelId="{1566B2A5-EBBA-724B-A3CB-C22E9F2F8C1B}" srcId="{465990C8-78C6-2B4A-A0FD-227F0ECD45CC}" destId="{710458ED-D02C-384B-994A-543F80E87DF9}" srcOrd="0" destOrd="0" parTransId="{246B7C17-D566-CA4F-A29A-4C2BB88F247D}" sibTransId="{60003CD8-3F3A-5448-9767-96ACDC2E142F}"/>
    <dgm:cxn modelId="{866FF2C6-B5A6-DA46-B6AC-10696831553D}" type="presOf" srcId="{710458ED-D02C-384B-994A-543F80E87DF9}" destId="{045165E4-8C50-7D48-A005-3E0FE4849F41}" srcOrd="0" destOrd="0" presId="urn:microsoft.com/office/officeart/2005/8/layout/cycle3"/>
    <dgm:cxn modelId="{0A3B953A-5955-4549-B674-C9D695E6D3A6}" type="presParOf" srcId="{BF439FCD-46E0-6B42-AC08-DAB07C98E883}" destId="{5AF2DBA9-F4B3-894F-967F-E8FEA45142D6}" srcOrd="0" destOrd="0" presId="urn:microsoft.com/office/officeart/2005/8/layout/cycle3"/>
    <dgm:cxn modelId="{72A93804-9200-C24E-99E9-325869B229F9}" type="presParOf" srcId="{5AF2DBA9-F4B3-894F-967F-E8FEA45142D6}" destId="{045165E4-8C50-7D48-A005-3E0FE4849F41}" srcOrd="0" destOrd="0" presId="urn:microsoft.com/office/officeart/2005/8/layout/cycle3"/>
    <dgm:cxn modelId="{F2F13B5B-3982-2C40-97F7-2A4CB30F60B9}" type="presParOf" srcId="{5AF2DBA9-F4B3-894F-967F-E8FEA45142D6}" destId="{B31182FD-350F-8C49-8B27-239C321C83CB}" srcOrd="1" destOrd="0" presId="urn:microsoft.com/office/officeart/2005/8/layout/cycle3"/>
    <dgm:cxn modelId="{1B44A79B-70CB-4A4E-8352-0B06E75113DC}" type="presParOf" srcId="{5AF2DBA9-F4B3-894F-967F-E8FEA45142D6}" destId="{1C656EFD-F51B-D74A-8E38-8CD9E932569F}" srcOrd="2" destOrd="0" presId="urn:microsoft.com/office/officeart/2005/8/layout/cycle3"/>
    <dgm:cxn modelId="{8A08A9F6-3F61-0F49-8454-A74BD8B7CF85}" type="presParOf" srcId="{5AF2DBA9-F4B3-894F-967F-E8FEA45142D6}" destId="{813B7B8D-AC54-CA49-9910-AA1313CB85C5}" srcOrd="3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182FD-350F-8C49-8B27-239C321C83CB}">
      <dsp:nvSpPr>
        <dsp:cNvPr id="0" name=""/>
        <dsp:cNvSpPr/>
      </dsp:nvSpPr>
      <dsp:spPr>
        <a:xfrm>
          <a:off x="543014" y="306764"/>
          <a:ext cx="2594654" cy="2594654"/>
        </a:xfrm>
        <a:prstGeom prst="circularArrow">
          <a:avLst>
            <a:gd name="adj1" fmla="val 5689"/>
            <a:gd name="adj2" fmla="val 340510"/>
            <a:gd name="adj3" fmla="val 12704468"/>
            <a:gd name="adj4" fmla="val 18071537"/>
            <a:gd name="adj5" fmla="val 5908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5165E4-8C50-7D48-A005-3E0FE4849F41}">
      <dsp:nvSpPr>
        <dsp:cNvPr id="0" name=""/>
        <dsp:cNvSpPr/>
      </dsp:nvSpPr>
      <dsp:spPr>
        <a:xfrm>
          <a:off x="983971" y="413054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Profile</a:t>
          </a:r>
        </a:p>
      </dsp:txBody>
      <dsp:txXfrm>
        <a:off x="1025775" y="454858"/>
        <a:ext cx="1629131" cy="772761"/>
      </dsp:txXfrm>
    </dsp:sp>
    <dsp:sp modelId="{1C656EFD-F51B-D74A-8E38-8CD9E932569F}">
      <dsp:nvSpPr>
        <dsp:cNvPr id="0" name=""/>
        <dsp:cNvSpPr/>
      </dsp:nvSpPr>
      <dsp:spPr>
        <a:xfrm>
          <a:off x="1967357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Diagnose</a:t>
          </a:r>
        </a:p>
      </dsp:txBody>
      <dsp:txXfrm>
        <a:off x="2009161" y="2158132"/>
        <a:ext cx="1629131" cy="772761"/>
      </dsp:txXfrm>
    </dsp:sp>
    <dsp:sp modelId="{813B7B8D-AC54-CA49-9910-AA1313CB85C5}">
      <dsp:nvSpPr>
        <dsp:cNvPr id="0" name=""/>
        <dsp:cNvSpPr/>
      </dsp:nvSpPr>
      <dsp:spPr>
        <a:xfrm>
          <a:off x="585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Fix</a:t>
          </a:r>
        </a:p>
      </dsp:txBody>
      <dsp:txXfrm>
        <a:off x="42389" y="2158132"/>
        <a:ext cx="1629131" cy="7727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722032" y="0"/>
          <a:ext cx="861016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Reg</a:t>
          </a:r>
        </a:p>
      </dsp:txBody>
      <dsp:txXfrm>
        <a:off x="1722032" y="0"/>
        <a:ext cx="861016" cy="723115"/>
      </dsp:txXfrm>
    </dsp:sp>
    <dsp:sp modelId="{920F2EBC-F607-724F-BD35-C16C01F66C40}">
      <dsp:nvSpPr>
        <dsp:cNvPr id="0" name=""/>
        <dsp:cNvSpPr/>
      </dsp:nvSpPr>
      <dsp:spPr>
        <a:xfrm>
          <a:off x="1291524" y="723115"/>
          <a:ext cx="1722032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L1 Cache</a:t>
          </a:r>
        </a:p>
      </dsp:txBody>
      <dsp:txXfrm>
        <a:off x="1592879" y="723115"/>
        <a:ext cx="1119321" cy="723115"/>
      </dsp:txXfrm>
    </dsp:sp>
    <dsp:sp modelId="{A7F7CBA5-D669-EF48-B25B-FF287E6D84EA}">
      <dsp:nvSpPr>
        <dsp:cNvPr id="0" name=""/>
        <dsp:cNvSpPr/>
      </dsp:nvSpPr>
      <dsp:spPr>
        <a:xfrm>
          <a:off x="861016" y="1446231"/>
          <a:ext cx="2583048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L2 Cache</a:t>
          </a:r>
        </a:p>
      </dsp:txBody>
      <dsp:txXfrm>
        <a:off x="1313049" y="1446231"/>
        <a:ext cx="1678981" cy="723115"/>
      </dsp:txXfrm>
    </dsp:sp>
    <dsp:sp modelId="{183490AB-4DB1-7842-B782-3B4C879974EB}">
      <dsp:nvSpPr>
        <dsp:cNvPr id="0" name=""/>
        <dsp:cNvSpPr/>
      </dsp:nvSpPr>
      <dsp:spPr>
        <a:xfrm>
          <a:off x="430508" y="2169346"/>
          <a:ext cx="3444064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LLC Cache</a:t>
          </a:r>
        </a:p>
      </dsp:txBody>
      <dsp:txXfrm>
        <a:off x="1033219" y="2169346"/>
        <a:ext cx="2238642" cy="723115"/>
      </dsp:txXfrm>
    </dsp:sp>
    <dsp:sp modelId="{6E27E759-5624-4B4A-B0EA-B06B8CC33536}">
      <dsp:nvSpPr>
        <dsp:cNvPr id="0" name=""/>
        <dsp:cNvSpPr/>
      </dsp:nvSpPr>
      <dsp:spPr>
        <a:xfrm>
          <a:off x="0" y="2892462"/>
          <a:ext cx="4305081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DRAM</a:t>
          </a:r>
        </a:p>
      </dsp:txBody>
      <dsp:txXfrm>
        <a:off x="753389" y="2892462"/>
        <a:ext cx="2798302" cy="7231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514317" y="0"/>
          <a:ext cx="757158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Reg</a:t>
          </a:r>
        </a:p>
      </dsp:txBody>
      <dsp:txXfrm>
        <a:off x="1514317" y="0"/>
        <a:ext cx="757158" cy="680988"/>
      </dsp:txXfrm>
    </dsp:sp>
    <dsp:sp modelId="{920F2EBC-F607-724F-BD35-C16C01F66C40}">
      <dsp:nvSpPr>
        <dsp:cNvPr id="0" name=""/>
        <dsp:cNvSpPr/>
      </dsp:nvSpPr>
      <dsp:spPr>
        <a:xfrm>
          <a:off x="1135737" y="680988"/>
          <a:ext cx="1514317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L1 Cache</a:t>
          </a:r>
        </a:p>
      </dsp:txBody>
      <dsp:txXfrm>
        <a:off x="1400743" y="680988"/>
        <a:ext cx="984306" cy="680988"/>
      </dsp:txXfrm>
    </dsp:sp>
    <dsp:sp modelId="{A7F7CBA5-D669-EF48-B25B-FF287E6D84EA}">
      <dsp:nvSpPr>
        <dsp:cNvPr id="0" name=""/>
        <dsp:cNvSpPr/>
      </dsp:nvSpPr>
      <dsp:spPr>
        <a:xfrm>
          <a:off x="757158" y="1361977"/>
          <a:ext cx="2271475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L2 Cache</a:t>
          </a:r>
        </a:p>
      </dsp:txBody>
      <dsp:txXfrm>
        <a:off x="1154666" y="1361977"/>
        <a:ext cx="1476459" cy="680988"/>
      </dsp:txXfrm>
    </dsp:sp>
    <dsp:sp modelId="{183490AB-4DB1-7842-B782-3B4C879974EB}">
      <dsp:nvSpPr>
        <dsp:cNvPr id="0" name=""/>
        <dsp:cNvSpPr/>
      </dsp:nvSpPr>
      <dsp:spPr>
        <a:xfrm>
          <a:off x="378579" y="2042966"/>
          <a:ext cx="3028634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LLC Cache</a:t>
          </a:r>
        </a:p>
      </dsp:txBody>
      <dsp:txXfrm>
        <a:off x="908590" y="2042966"/>
        <a:ext cx="1968612" cy="680988"/>
      </dsp:txXfrm>
    </dsp:sp>
    <dsp:sp modelId="{6E27E759-5624-4B4A-B0EA-B06B8CC33536}">
      <dsp:nvSpPr>
        <dsp:cNvPr id="0" name=""/>
        <dsp:cNvSpPr/>
      </dsp:nvSpPr>
      <dsp:spPr>
        <a:xfrm>
          <a:off x="0" y="2723955"/>
          <a:ext cx="3785793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DRAM</a:t>
          </a:r>
        </a:p>
      </dsp:txBody>
      <dsp:txXfrm>
        <a:off x="662513" y="2723955"/>
        <a:ext cx="2460765" cy="6809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394A5-FD1F-430F-BB3A-F7878AC293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CE605-DAD4-4C64-BE6E-BE3D8E550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99187-58AF-4D6B-8526-D5C98A6AF8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79C45C6D-DBFC-4B67-A8DE-9C2360ACC98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31822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97C0424-39BA-4205-9510-7D8372B40F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861BC-4E89-4909-9F41-7A6E2018373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5B25F150-DB0B-4758-AFA9-222A6E446235}" type="datetimeFigureOut">
              <a:rPr lang="en-US" altLang="en-US"/>
              <a:pPr>
                <a:defRPr/>
              </a:pPr>
              <a:t>3/27/26</a:t>
            </a:fld>
            <a:endParaRPr lang="en-US" alt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5B20C51-CC4D-4C34-9C63-92F50CE02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C138B7-E2A5-4B5D-ADC2-E53A511B52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1A1A-4481-471C-A253-BE997586AA0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0DDD9-A1C6-46BA-89ED-AF0DD2672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3B16354E-6974-4833-AB87-3220A083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67580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6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86919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AB4B55-060F-BB7C-707C-BC52EA56FB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"/>
            <a:ext cx="12191999" cy="6858001"/>
          </a:xfrm>
          <a:prstGeom prst="rect">
            <a:avLst/>
          </a:prstGeom>
        </p:spPr>
      </p:pic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5B52BF8D-E158-ED3C-F83E-8ADB787A9B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394BE803-3A53-9DD7-8C4D-BE54366D24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65FD54C8-30E0-092E-F3F7-D923E508229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DEB12F-91E9-DAC5-FBA6-F59334F7F67D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F071B41C-1A24-A635-FA1A-9F8F68EDD53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4" name="TextBox 20">
            <a:extLst>
              <a:ext uri="{FF2B5EF4-FFF2-40B4-BE49-F238E27FC236}">
                <a16:creationId xmlns:a16="http://schemas.microsoft.com/office/drawing/2014/main" id="{BC02F8D1-4809-5534-8DA7-251CC8B5FC94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253652" y="5695788"/>
            <a:ext cx="1573278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sz="1000" b="0" i="0" dirty="0">
                <a:solidFill>
                  <a:srgbClr val="D1D2D3"/>
                </a:solidFill>
                <a:effectLst/>
                <a:latin typeface="+mn-lt"/>
              </a:rPr>
              <a:t>AI-generated image</a:t>
            </a:r>
            <a:endParaRPr lang="en-US" altLang="en-US" sz="1000" dirty="0">
              <a:solidFill>
                <a:schemeClr val="bg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2863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49" r="149"/>
          <a:stretch/>
        </p:blipFill>
        <p:spPr>
          <a:xfrm>
            <a:off x="0" y="-1"/>
            <a:ext cx="12191999" cy="687843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2A4FA427-EB3E-3449-943F-CB3DAB3EB8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793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30" b="130"/>
          <a:stretch/>
        </p:blipFill>
        <p:spPr>
          <a:xfrm>
            <a:off x="-1" y="-2857"/>
            <a:ext cx="12192000" cy="6858000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449CDA4C-9E15-534E-84B0-83C4633EA098}"/>
              </a:ext>
            </a:extLst>
          </p:cNvPr>
          <p:cNvSpPr/>
          <p:nvPr userDrawn="1"/>
        </p:nvSpPr>
        <p:spPr>
          <a:xfrm>
            <a:off x="0" y="5715"/>
            <a:ext cx="9725190" cy="6858265"/>
          </a:xfrm>
          <a:custGeom>
            <a:avLst/>
            <a:gdLst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52263 w 9779619"/>
              <a:gd name="connsiteY3" fmla="*/ 6891453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63415 w 9779619"/>
              <a:gd name="connsiteY3" fmla="*/ 6880302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63415 w 9779619"/>
              <a:gd name="connsiteY3" fmla="*/ 6880302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80302"/>
              <a:gd name="connsiteX1" fmla="*/ 0 w 9779619"/>
              <a:gd name="connsiteY1" fmla="*/ 0 h 6880302"/>
              <a:gd name="connsiteX2" fmla="*/ 0 w 9779619"/>
              <a:gd name="connsiteY2" fmla="*/ 6857999 h 6880302"/>
              <a:gd name="connsiteX3" fmla="*/ 8363415 w 9779619"/>
              <a:gd name="connsiteY3" fmla="*/ 6880302 h 6880302"/>
              <a:gd name="connsiteX4" fmla="*/ 9779619 w 9779619"/>
              <a:gd name="connsiteY4" fmla="*/ 5475249 h 6880302"/>
              <a:gd name="connsiteX5" fmla="*/ 4304371 w 9779619"/>
              <a:gd name="connsiteY5" fmla="*/ 0 h 6880302"/>
              <a:gd name="connsiteX0" fmla="*/ 4304371 w 9779619"/>
              <a:gd name="connsiteY0" fmla="*/ 0 h 6869151"/>
              <a:gd name="connsiteX1" fmla="*/ 0 w 9779619"/>
              <a:gd name="connsiteY1" fmla="*/ 0 h 6869151"/>
              <a:gd name="connsiteX2" fmla="*/ 0 w 9779619"/>
              <a:gd name="connsiteY2" fmla="*/ 6857999 h 6869151"/>
              <a:gd name="connsiteX3" fmla="*/ 8385718 w 9779619"/>
              <a:gd name="connsiteY3" fmla="*/ 6869151 h 6869151"/>
              <a:gd name="connsiteX4" fmla="*/ 9779619 w 9779619"/>
              <a:gd name="connsiteY4" fmla="*/ 5475249 h 6869151"/>
              <a:gd name="connsiteX5" fmla="*/ 4304371 w 9779619"/>
              <a:gd name="connsiteY5" fmla="*/ 0 h 6869151"/>
              <a:gd name="connsiteX0" fmla="*/ 4304371 w 9779619"/>
              <a:gd name="connsiteY0" fmla="*/ 0 h 6869151"/>
              <a:gd name="connsiteX1" fmla="*/ 0 w 9779619"/>
              <a:gd name="connsiteY1" fmla="*/ 0 h 6869151"/>
              <a:gd name="connsiteX2" fmla="*/ 0 w 9779619"/>
              <a:gd name="connsiteY2" fmla="*/ 6857999 h 6869151"/>
              <a:gd name="connsiteX3" fmla="*/ 8353061 w 9779619"/>
              <a:gd name="connsiteY3" fmla="*/ 6869151 h 6869151"/>
              <a:gd name="connsiteX4" fmla="*/ 9779619 w 9779619"/>
              <a:gd name="connsiteY4" fmla="*/ 5475249 h 6869151"/>
              <a:gd name="connsiteX5" fmla="*/ 4304371 w 9779619"/>
              <a:gd name="connsiteY5" fmla="*/ 0 h 6869151"/>
              <a:gd name="connsiteX0" fmla="*/ 4304371 w 9725190"/>
              <a:gd name="connsiteY0" fmla="*/ 0 h 6869151"/>
              <a:gd name="connsiteX1" fmla="*/ 0 w 9725190"/>
              <a:gd name="connsiteY1" fmla="*/ 0 h 6869151"/>
              <a:gd name="connsiteX2" fmla="*/ 0 w 9725190"/>
              <a:gd name="connsiteY2" fmla="*/ 6857999 h 6869151"/>
              <a:gd name="connsiteX3" fmla="*/ 8353061 w 9725190"/>
              <a:gd name="connsiteY3" fmla="*/ 6869151 h 6869151"/>
              <a:gd name="connsiteX4" fmla="*/ 9725190 w 9725190"/>
              <a:gd name="connsiteY4" fmla="*/ 5464363 h 6869151"/>
              <a:gd name="connsiteX5" fmla="*/ 4304371 w 9725190"/>
              <a:gd name="connsiteY5" fmla="*/ 0 h 6869151"/>
              <a:gd name="connsiteX0" fmla="*/ 4304371 w 9725190"/>
              <a:gd name="connsiteY0" fmla="*/ 0 h 6858265"/>
              <a:gd name="connsiteX1" fmla="*/ 0 w 9725190"/>
              <a:gd name="connsiteY1" fmla="*/ 0 h 6858265"/>
              <a:gd name="connsiteX2" fmla="*/ 0 w 9725190"/>
              <a:gd name="connsiteY2" fmla="*/ 6857999 h 6858265"/>
              <a:gd name="connsiteX3" fmla="*/ 8320404 w 9725190"/>
              <a:gd name="connsiteY3" fmla="*/ 6858265 h 6858265"/>
              <a:gd name="connsiteX4" fmla="*/ 9725190 w 9725190"/>
              <a:gd name="connsiteY4" fmla="*/ 5464363 h 6858265"/>
              <a:gd name="connsiteX5" fmla="*/ 4304371 w 9725190"/>
              <a:gd name="connsiteY5" fmla="*/ 0 h 6858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725190" h="6858265">
                <a:moveTo>
                  <a:pt x="4304371" y="0"/>
                </a:moveTo>
                <a:lnTo>
                  <a:pt x="0" y="0"/>
                </a:lnTo>
                <a:lnTo>
                  <a:pt x="0" y="6857999"/>
                </a:lnTo>
                <a:lnTo>
                  <a:pt x="8320404" y="6858265"/>
                </a:lnTo>
                <a:lnTo>
                  <a:pt x="9725190" y="5464363"/>
                </a:lnTo>
                <a:lnTo>
                  <a:pt x="4304371" y="0"/>
                </a:lnTo>
                <a:close/>
              </a:path>
            </a:pathLst>
          </a:cu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F195BE92-34F5-3546-A596-20D07A139B4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931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3E0F26C2-13FB-254B-AE0E-BD5BE35F4E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5F57A52-A090-7F0C-29C6-83F92019602D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87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BEDD4A8-AC94-F043-97D1-13B28A4EA0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86954D4-E837-74D6-C2A1-5D6EC130E8CC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904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16" y="-66"/>
            <a:ext cx="12192116" cy="6858065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21997F8F-0B70-7945-8CB6-7230FFBB88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07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6927" y="0"/>
            <a:ext cx="12202885" cy="6864122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BEDD4A8-AC94-F043-97D1-13B28A4EA0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77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16933"/>
            <a:ext cx="12192000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65F417A8-5A56-C049-844F-E82873A772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377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F3C97BB-9939-B347-8FA3-7462E2FE43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377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7803EC-F0AE-DC4A-A429-41D8DD50D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7999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6CBE02A7-EA26-23DB-58E4-E78CD10548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23A370-A92B-54C6-980D-406B2EE17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7FF7030-A64B-2842-8A77-3EB354B9D9B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6" name="Picture 5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1A3DA53E-053D-C94E-3938-BC2E15E9142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095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7_Section Divider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20">
            <a:extLst>
              <a:ext uri="{FF2B5EF4-FFF2-40B4-BE49-F238E27FC236}">
                <a16:creationId xmlns:a16="http://schemas.microsoft.com/office/drawing/2014/main" id="{C897E447-8D49-F64E-96E2-E84DFE56298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06FA327-5400-394E-B4AE-123F66979F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32154D4-1182-DC4A-B9F9-3D973CBC84A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6B164D8-593E-4E49-A224-1AA496608B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7B3BB7BF-91BC-31FE-28B5-3FF67809DE4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8317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ackground pattern  Description automatically generated">
            <a:extLst>
              <a:ext uri="{FF2B5EF4-FFF2-40B4-BE49-F238E27FC236}">
                <a16:creationId xmlns:a16="http://schemas.microsoft.com/office/drawing/2014/main" id="{31CA647C-0297-2248-9EC4-C59D9E7C39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99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  Description automatically generated">
            <a:extLst>
              <a:ext uri="{FF2B5EF4-FFF2-40B4-BE49-F238E27FC236}">
                <a16:creationId xmlns:a16="http://schemas.microsoft.com/office/drawing/2014/main" id="{1321ADCF-9532-6E4F-9169-2B103CECC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8" name="Picture 7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92C6B5BA-D902-3D48-BDB2-127DD90164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3454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  Description automatically generated">
            <a:extLst>
              <a:ext uri="{FF2B5EF4-FFF2-40B4-BE49-F238E27FC236}">
                <a16:creationId xmlns:a16="http://schemas.microsoft.com/office/drawing/2014/main" id="{1321ADCF-9532-6E4F-9169-2B103CECC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8" name="Picture 7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92C6B5BA-D902-3D48-BDB2-127DD90164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0247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8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  Description automatically generated">
            <a:extLst>
              <a:ext uri="{FF2B5EF4-FFF2-40B4-BE49-F238E27FC236}">
                <a16:creationId xmlns:a16="http://schemas.microsoft.com/office/drawing/2014/main" id="{604AF1EA-FE1C-3F4A-A7A0-4F551C29E8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  <a:noFill/>
        </p:spPr>
      </p:pic>
      <p:sp>
        <p:nvSpPr>
          <p:cNvPr id="6" name="TextBox 20">
            <a:extLst>
              <a:ext uri="{FF2B5EF4-FFF2-40B4-BE49-F238E27FC236}">
                <a16:creationId xmlns:a16="http://schemas.microsoft.com/office/drawing/2014/main" id="{3CF78C79-90BA-5869-FBC4-1C0023B4AF9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862E9D-D706-B759-FC9C-A2B692BCFE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5B772A6-6BC3-12BE-D0AB-6F252BD500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51E57CBB-3902-9A28-E8CE-F513E89A7F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4917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F3C97BB-9939-B347-8FA3-7462E2FE43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78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273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888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7803EC-F0AE-DC4A-A429-41D8DD50D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6" name="TextBox 20">
            <a:extLst>
              <a:ext uri="{FF2B5EF4-FFF2-40B4-BE49-F238E27FC236}">
                <a16:creationId xmlns:a16="http://schemas.microsoft.com/office/drawing/2014/main" id="{22C4DAF5-FB2E-B028-5256-CC2FDFC9EEE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EB6E97-EDDF-2A96-074F-18BB6384B2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2225AAB-54E0-EAE0-0840-093AB2F5C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724A7481-3CA6-7994-9B9F-FAAD68B5E81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0419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2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F5B06E-F6A0-3B43-AD64-568F71E241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7852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11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6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8375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Section Divider slide">
    <p:bg>
      <p:bgPr>
        <a:solidFill>
          <a:srgbClr val="FF6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353FD8-3FBF-E340-8B41-D553C61637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848AE1EF-8720-A960-1DEC-CD949844D70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CF3DE6B-FA5F-2139-2D6E-5F4666CD2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817E7A-3D17-D0A0-461E-12CC777B82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5" name="Picture 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8A3629F-5EE6-F850-E161-2CD448E2F6F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8099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32503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 anchor="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554489"/>
            <a:ext cx="11233150" cy="455323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chemeClr val="tx2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3pPr>
            <a:lvl4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477504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E00537-4172-4053-A616-87E429C679A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20481"/>
            <a:ext cx="0" cy="451520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59204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9" name="Text Placeholder 131"/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0481"/>
            <a:ext cx="53456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477587" y="2202443"/>
            <a:ext cx="5347480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131"/>
          <p:cNvSpPr>
            <a:spLocks noGrp="1"/>
          </p:cNvSpPr>
          <p:nvPr>
            <p:ph type="body" sz="quarter" idx="18" hasCustomPrompt="1"/>
          </p:nvPr>
        </p:nvSpPr>
        <p:spPr>
          <a:xfrm>
            <a:off x="6341534" y="1620481"/>
            <a:ext cx="53710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7" y="2202442"/>
            <a:ext cx="5372628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6211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795D2F-D322-4144-8DA8-55D6A29427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148138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4D2EAD-40A5-4C0B-900F-916EB19FF74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051800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479426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0" name="Text Placeholder 1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300113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0077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21" hasCustomPrompt="1"/>
          </p:nvPr>
        </p:nvSpPr>
        <p:spPr>
          <a:xfrm>
            <a:off x="8299119" y="2372564"/>
            <a:ext cx="3413455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grpSp>
        <p:nvGrpSpPr>
          <p:cNvPr id="36" name="Group 6">
            <a:extLst>
              <a:ext uri="{FF2B5EF4-FFF2-40B4-BE49-F238E27FC236}">
                <a16:creationId xmlns:a16="http://schemas.microsoft.com/office/drawing/2014/main" id="{CCE81F77-7204-0241-970A-63C43B1D7B8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4148138" y="1611050"/>
            <a:ext cx="3903662" cy="4448438"/>
            <a:chOff x="3706307" y="1883391"/>
            <a:chExt cx="3803176" cy="4472959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266E339-1F3B-8E41-B64F-AA6A42EDF7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6307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22B3030-62BD-3440-A850-5C6E7CCDD5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09483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 Placeholder 131">
            <a:extLst>
              <a:ext uri="{FF2B5EF4-FFF2-40B4-BE49-F238E27FC236}">
                <a16:creationId xmlns:a16="http://schemas.microsoft.com/office/drawing/2014/main" id="{B54BFFD1-D378-D841-B5DD-88788B48D0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3" name="Text Placeholder 131">
            <a:extLst>
              <a:ext uri="{FF2B5EF4-FFF2-40B4-BE49-F238E27FC236}">
                <a16:creationId xmlns:a16="http://schemas.microsoft.com/office/drawing/2014/main" id="{E3125198-F65A-8049-9D3E-A6AF258DAE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6192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5" name="Text Placeholder 131">
            <a:extLst>
              <a:ext uri="{FF2B5EF4-FFF2-40B4-BE49-F238E27FC236}">
                <a16:creationId xmlns:a16="http://schemas.microsoft.com/office/drawing/2014/main" id="{7C8008EA-19DB-814F-9284-A055A2AB89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6" name="Content Placeholder 8">
            <a:extLst>
              <a:ext uri="{FF2B5EF4-FFF2-40B4-BE49-F238E27FC236}">
                <a16:creationId xmlns:a16="http://schemas.microsoft.com/office/drawing/2014/main" id="{DD4BA2E6-FACA-5C45-B75F-9327959A672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15863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7" name="Content Placeholder 8">
            <a:extLst>
              <a:ext uri="{FF2B5EF4-FFF2-40B4-BE49-F238E27FC236}">
                <a16:creationId xmlns:a16="http://schemas.microsoft.com/office/drawing/2014/main" id="{5AB0A5A2-CEF5-6E44-BACF-2C0296FE306B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371875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55004" y="1631950"/>
            <a:ext cx="0" cy="444060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631111"/>
            <a:ext cx="2619375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29991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1881F-8B1A-4F78-926D-54E8F515C458}"/>
              </a:ext>
            </a:extLst>
          </p:cNvPr>
          <p:cNvCxnSpPr>
            <a:cxnSpLocks/>
          </p:cNvCxnSpPr>
          <p:nvPr userDrawn="1"/>
        </p:nvCxnSpPr>
        <p:spPr>
          <a:xfrm>
            <a:off x="8932863" y="1629287"/>
            <a:ext cx="0" cy="444326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037637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479425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59496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3354388" y="1618445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4" name="Picture Placeholder 5"/>
          <p:cNvSpPr>
            <a:spLocks noGrp="1"/>
          </p:cNvSpPr>
          <p:nvPr>
            <p:ph type="pic" sz="quarter" idx="18"/>
          </p:nvPr>
        </p:nvSpPr>
        <p:spPr>
          <a:xfrm>
            <a:off x="3354388" y="3755872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5" name="Picture Placeholder 5"/>
          <p:cNvSpPr>
            <a:spLocks noGrp="1"/>
          </p:cNvSpPr>
          <p:nvPr>
            <p:ph type="pic" sz="quarter" idx="19"/>
          </p:nvPr>
        </p:nvSpPr>
        <p:spPr>
          <a:xfrm>
            <a:off x="9066213" y="1618445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6" name="Picture Placeholder 5"/>
          <p:cNvSpPr>
            <a:spLocks noGrp="1"/>
          </p:cNvSpPr>
          <p:nvPr>
            <p:ph type="pic" sz="quarter" idx="20"/>
          </p:nvPr>
        </p:nvSpPr>
        <p:spPr>
          <a:xfrm>
            <a:off x="9066213" y="3755872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1" hasCustomPrompt="1"/>
          </p:nvPr>
        </p:nvSpPr>
        <p:spPr>
          <a:xfrm>
            <a:off x="479425" y="1618445"/>
            <a:ext cx="26193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6220216" y="1618445"/>
            <a:ext cx="26066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4441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29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629079"/>
            <a:ext cx="5481108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461651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842164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479425" y="1259574"/>
            <a:ext cx="11233150" cy="4836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noProof="0"/>
              <a:t>Click icon to add 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75123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41880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5898A6C-DE95-7141-81A3-94C7240F86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F0FB5E03-A74E-CC42-A7DF-71D20DBF224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D4A0DA91-CFBB-E84D-B787-D16C79C7267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0C8C98-8540-F243-A7E5-72B42C482D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</p:spTree>
    <p:extLst>
      <p:ext uri="{BB962C8B-B14F-4D97-AF65-F5344CB8AC3E}">
        <p14:creationId xmlns:p14="http://schemas.microsoft.com/office/powerpoint/2010/main" val="31162736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7B9A38E-B1CF-844E-A9DE-275B3C0661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20DC93-4706-E90A-3AA5-65A7191B63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746397E-87C1-0CA1-B4AF-78BB574C38A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4466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7B9A38E-B1CF-844E-A9DE-275B3C0661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20DC93-4706-E90A-3AA5-65A7191B63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746397E-87C1-0CA1-B4AF-78BB574C38A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6181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973A747D-17C8-3049-97A8-E7994701AC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D4A0DA91-CFBB-E84D-B787-D16C79C7267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32520C-4F76-B1E0-1315-122D2AE2AE9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908479A3-F44E-6F79-1AB5-22FC1841C3F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57717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65C8D65D-FA78-7045-8C8F-56DDB114BD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C7439E-9A8C-62F0-11A3-8D7D8A5E881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DE3DF629-D984-6F20-C82D-6842E67510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5750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65C8D65D-FA78-7045-8C8F-56DDB114BD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C7439E-9A8C-62F0-11A3-8D7D8A5E881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DE3DF629-D984-6F20-C82D-6842E67510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65605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A48FB55-D5BB-084F-BACF-A07C257E79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3" name="Picture 12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44746F1-B3D7-0243-8B06-95CC6A2018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25EC0CC-4F04-39C5-041F-BEA17116B4D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71610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E22D11-BA56-674C-A7F1-E8B345E827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51C65B67-1002-E334-8760-AE1DBFE14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50506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E22D11-BA56-674C-A7F1-E8B345E827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51C65B67-1002-E334-8760-AE1DBFE14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11831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ackground pattern  Description automatically generated">
            <a:extLst>
              <a:ext uri="{FF2B5EF4-FFF2-40B4-BE49-F238E27FC236}">
                <a16:creationId xmlns:a16="http://schemas.microsoft.com/office/drawing/2014/main" id="{5CB4EA8E-D6CA-DF40-9ADD-CE8408E00D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3" name="Picture 12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44746F1-B3D7-0243-8B06-95CC6A2018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854653A2-DF57-3728-3E84-C3AF0DEC905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958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007A6213-5C36-0A44-890D-F1E1590E8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6EF959D-9832-1867-1020-70C850E8715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41257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007A6213-5C36-0A44-890D-F1E1590E8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6EF959D-9832-1867-1020-70C850E8715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69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5.svg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1029" name="TextBox 26"/>
          <p:cNvSpPr txBox="1">
            <a:spLocks noChangeArrowheads="1"/>
          </p:cNvSpPr>
          <p:nvPr userDrawn="1"/>
        </p:nvSpPr>
        <p:spPr bwMode="auto">
          <a:xfrm>
            <a:off x="317949" y="6410643"/>
            <a:ext cx="312738" cy="1381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1000" smtClean="0">
                <a:solidFill>
                  <a:srgbClr val="7F7F7F"/>
                </a:solidFill>
              </a:rPr>
              <a:pPr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1000" dirty="0">
              <a:solidFill>
                <a:srgbClr val="7F7F7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133061"/>
            <a:ext cx="11243088" cy="49746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20">
            <a:extLst>
              <a:ext uri="{FF2B5EF4-FFF2-40B4-BE49-F238E27FC236}">
                <a16:creationId xmlns:a16="http://schemas.microsoft.com/office/drawing/2014/main" id="{A9403B94-AAAF-AB46-B38A-95D16DAB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accent6"/>
                </a:solidFill>
              </a:rPr>
              <a:t>© 2024 Arm</a:t>
            </a:r>
            <a:endParaRPr lang="en-US" altLang="en-US" sz="1000" dirty="0">
              <a:solidFill>
                <a:schemeClr val="accent6"/>
              </a:solidFill>
            </a:endParaRPr>
          </a:p>
        </p:txBody>
      </p:sp>
      <p:pic>
        <p:nvPicPr>
          <p:cNvPr id="5" name="Picture 4" descr="A picture containing clock, meter  Description automatically generated">
            <a:extLst>
              <a:ext uri="{FF2B5EF4-FFF2-40B4-BE49-F238E27FC236}">
                <a16:creationId xmlns:a16="http://schemas.microsoft.com/office/drawing/2014/main" id="{970F2EF9-EE0C-275D-DB99-812522D98880}"/>
              </a:ext>
            </a:extLst>
          </p:cNvPr>
          <p:cNvPicPr>
            <a:picLocks noChangeAspect="1"/>
          </p:cNvPicPr>
          <p:nvPr userDrawn="1"/>
        </p:nvPicPr>
        <p:blipFill>
          <a:blip r:embed="rId4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35847" y="6384924"/>
            <a:ext cx="879904" cy="274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20" r:id="rId1"/>
    <p:sldLayoutId id="2147485567" r:id="rId2"/>
    <p:sldLayoutId id="2147485516" r:id="rId3"/>
    <p:sldLayoutId id="2147485517" r:id="rId4"/>
    <p:sldLayoutId id="2147485551" r:id="rId5"/>
    <p:sldLayoutId id="2147485519" r:id="rId6"/>
    <p:sldLayoutId id="2147485531" r:id="rId7"/>
    <p:sldLayoutId id="2147485552" r:id="rId8"/>
    <p:sldLayoutId id="2147485540" r:id="rId9"/>
    <p:sldLayoutId id="2147485539" r:id="rId10"/>
    <p:sldLayoutId id="2147485541" r:id="rId11"/>
    <p:sldLayoutId id="2147485556" r:id="rId12"/>
    <p:sldLayoutId id="2147485436" r:id="rId13"/>
    <p:sldLayoutId id="2147485523" r:id="rId14"/>
    <p:sldLayoutId id="2147485557" r:id="rId15"/>
    <p:sldLayoutId id="2147485525" r:id="rId16"/>
    <p:sldLayoutId id="2147485524" r:id="rId17"/>
    <p:sldLayoutId id="2147485510" r:id="rId18"/>
    <p:sldLayoutId id="2147485558" r:id="rId19"/>
    <p:sldLayoutId id="2147485438" r:id="rId20"/>
    <p:sldLayoutId id="2147485536" r:id="rId21"/>
    <p:sldLayoutId id="2147485535" r:id="rId22"/>
    <p:sldLayoutId id="2147485559" r:id="rId23"/>
    <p:sldLayoutId id="2147485538" r:id="rId24"/>
    <p:sldLayoutId id="2147485440" r:id="rId25"/>
    <p:sldLayoutId id="2147485441" r:id="rId26"/>
    <p:sldLayoutId id="2147485442" r:id="rId27"/>
    <p:sldLayoutId id="2147485443" r:id="rId28"/>
    <p:sldLayoutId id="2147485444" r:id="rId29"/>
    <p:sldLayoutId id="2147485445" r:id="rId30"/>
    <p:sldLayoutId id="2147485446" r:id="rId31"/>
    <p:sldLayoutId id="2147485447" r:id="rId32"/>
    <p:sldLayoutId id="2147485448" r:id="rId33"/>
    <p:sldLayoutId id="2147485449" r:id="rId34"/>
    <p:sldLayoutId id="2147485450" r:id="rId35"/>
    <p:sldLayoutId id="2147485452" r:id="rId36"/>
    <p:sldLayoutId id="2147485512" r:id="rId37"/>
    <p:sldLayoutId id="2147485560" r:id="rId38"/>
    <p:sldLayoutId id="2147485526" r:id="rId39"/>
    <p:sldLayoutId id="2147485527" r:id="rId40"/>
    <p:sldLayoutId id="2147485561" r:id="rId41"/>
    <p:sldLayoutId id="2147485453" r:id="rId42"/>
    <p:sldLayoutId id="2147485513" r:id="rId43"/>
    <p:sldLayoutId id="2147485562" r:id="rId44"/>
    <p:sldLayoutId id="2147485528" r:id="rId45"/>
    <p:sldLayoutId id="2147485529" r:id="rId46"/>
    <p:sldLayoutId id="2147485563" r:id="rId47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0" kern="1200" spc="-50">
          <a:solidFill>
            <a:schemeClr val="accent1"/>
          </a:solidFill>
          <a:latin typeface="+mn-lt"/>
          <a:ea typeface="ＭＳ Ｐゴシック" charset="0"/>
          <a:cs typeface="ＭＳ Ｐゴシック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FontTx/>
        <a:buBlip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</a:buBlip>
        <a:defRPr sz="2400" kern="1200">
          <a:solidFill>
            <a:srgbClr val="333E48"/>
          </a:solidFill>
          <a:latin typeface="+mn-lt"/>
          <a:ea typeface="ＭＳ Ｐゴシック" charset="0"/>
          <a:cs typeface="ＭＳ Ｐゴシック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Arial" charset="0"/>
        <a:buChar char="•"/>
        <a:defRPr sz="2000" kern="1200">
          <a:solidFill>
            <a:srgbClr val="333E48"/>
          </a:solidFill>
          <a:latin typeface="+mn-lt"/>
          <a:ea typeface="ＭＳ Ｐゴシック" charset="0"/>
          <a:cs typeface="+mn-cs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Tx/>
        <a:buBlip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</a:buBlip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charset="2"/>
        <a:buChar char="§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Tx/>
        <a:buBlip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</a:buBlip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619" userDrawn="1">
          <p15:clr>
            <a:srgbClr val="F26B43"/>
          </p15:clr>
        </p15:guide>
        <p15:guide id="4" orient="horz" pos="300" userDrawn="1">
          <p15:clr>
            <a:srgbClr val="F26B43"/>
          </p15:clr>
        </p15:guide>
        <p15:guide id="5" orient="horz" pos="4020" userDrawn="1">
          <p15:clr>
            <a:srgbClr val="F26B43"/>
          </p15:clr>
        </p15:guide>
        <p15:guide id="6" pos="7378" userDrawn="1">
          <p15:clr>
            <a:srgbClr val="F26B43"/>
          </p15:clr>
        </p15:guide>
        <p15:guide id="7" pos="302" userDrawn="1">
          <p15:clr>
            <a:srgbClr val="F26B43"/>
          </p15:clr>
        </p15:guide>
        <p15:guide id="8" pos="706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5.svg"/><Relationship Id="rId2" Type="http://schemas.openxmlformats.org/officeDocument/2006/relationships/hyperlink" Target="https://documentation-service.arm.com/static/6036810d5319e554d4ba108b?token=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documentation/109542/0100/Arm-Topdown-methodology/Stage-2--Microarchitecture-exploration?lang=en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documentation/109542/0100/Arm-Topdown-methodology/Stage-1--Topdown-analysis?lang=en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5.sv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community/arm-community-blogs/b/architectures-and-processors-blog/posts/a-walk-through-of-the-microarchitectural-improvements-in-cortex-a72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5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3.xml"/><Relationship Id="rId7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5.sv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6CC20-1BF1-03E9-8D92-2B8E82409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0D2ABF-0C21-8E8F-D35B-2BB6B5E79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Principles of Performance Engineering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20D84C9-8EF3-C4BC-7CD8-E0F19C12DF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Understanding CPU Microarchitecture for Software Optimisation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E1012A-18CD-F8DB-5FDC-DFA41ECEC9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39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Performance 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Understanding where your cycles go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US" b="1" dirty="0"/>
              <a:t>What is Performance Engineering?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7094561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The practice of measuring, analysing, and improving software performance</a:t>
            </a:r>
          </a:p>
          <a:p>
            <a:pPr lvl="1"/>
            <a:r>
              <a:rPr lang="en-GB" altLang="en-US" dirty="0"/>
              <a:t>Not guessing -- using hardware evidence to guide decisions</a:t>
            </a:r>
          </a:p>
          <a:p>
            <a:r>
              <a:rPr lang="en-GB" altLang="en-US" dirty="0"/>
              <a:t>Modern CPUs are complex: multiple cache levels, out-of-order execution, speculative pipelines</a:t>
            </a:r>
          </a:p>
          <a:p>
            <a:pPr lvl="1"/>
            <a:r>
              <a:rPr lang="en-GB" altLang="en-US" dirty="0"/>
              <a:t>Source code alone cannot reveal where time is being wasted</a:t>
            </a:r>
          </a:p>
          <a:p>
            <a:r>
              <a:rPr lang="en-GB" altLang="en-US" dirty="0"/>
              <a:t>Performance engineering answers two fundamental questions:</a:t>
            </a:r>
          </a:p>
          <a:p>
            <a:pPr lvl="1"/>
            <a:r>
              <a:rPr lang="en-GB" altLang="en-US" dirty="0"/>
              <a:t>Where is the program spending its time?</a:t>
            </a:r>
          </a:p>
          <a:p>
            <a:pPr lvl="1"/>
            <a:r>
              <a:rPr lang="en-GB" altLang="en-US" dirty="0"/>
              <a:t>Why is it spending time there instead of doing useful work?</a:t>
            </a:r>
          </a:p>
          <a:p>
            <a:r>
              <a:rPr lang="en-GB" altLang="en-US" dirty="0"/>
              <a:t>Goal: convert more CPU cycles into useful computation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A6FCB0B-26E5-0998-28E8-D154762ECD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8489487"/>
              </p:ext>
            </p:extLst>
          </p:nvPr>
        </p:nvGraphicFramePr>
        <p:xfrm>
          <a:off x="8031892" y="1037967"/>
          <a:ext cx="3680683" cy="33857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US" b="1" dirty="0"/>
              <a:t>The Modern CPU Pipeline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115" y="1133061"/>
            <a:ext cx="7094561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Instructions flow through a series of stages: Fetch, Decode, Execute, Retire</a:t>
            </a:r>
          </a:p>
          <a:p>
            <a:pPr lvl="1"/>
            <a:r>
              <a:rPr lang="en-GB" altLang="en-US" dirty="0"/>
              <a:t>Fetch: retrieve instructions from memory via the instruction cache</a:t>
            </a:r>
          </a:p>
          <a:p>
            <a:pPr lvl="1"/>
            <a:r>
              <a:rPr lang="en-GB" altLang="en-US" dirty="0"/>
              <a:t>Decode: translate instructions into micro-operations (micro-ops)</a:t>
            </a:r>
          </a:p>
          <a:p>
            <a:pPr lvl="1"/>
            <a:r>
              <a:rPr lang="en-GB" altLang="en-US" dirty="0"/>
              <a:t>Execute: perform the actual computation in execution units</a:t>
            </a:r>
          </a:p>
          <a:p>
            <a:pPr lvl="1"/>
            <a:r>
              <a:rPr lang="en-GB" altLang="en-US" dirty="0"/>
              <a:t>Retire: commit results to architectural state</a:t>
            </a:r>
          </a:p>
          <a:p>
            <a:r>
              <a:rPr lang="en-GB" altLang="en-US" dirty="0"/>
              <a:t>Modern CPUs are superscalar: they can issue multiple micro-ops per cycle</a:t>
            </a:r>
          </a:p>
          <a:p>
            <a:pPr lvl="1"/>
            <a:r>
              <a:rPr lang="en-GB" altLang="en-US" dirty="0"/>
              <a:t>The pipeline has a fixed number of issue slots per cycle</a:t>
            </a:r>
          </a:p>
          <a:p>
            <a:r>
              <a:rPr lang="en-GB" altLang="en-US" dirty="0"/>
              <a:t>Out-of-order execution: the CPU can reorder instructions for efficiency</a:t>
            </a:r>
          </a:p>
          <a:p>
            <a:pPr lvl="1"/>
            <a:r>
              <a:rPr lang="en-GB" altLang="en-US" dirty="0"/>
              <a:t>Instructions may execute in a different order than written in the program</a:t>
            </a:r>
            <a:endParaRPr lang="en-US" altLang="en-US" dirty="0"/>
          </a:p>
        </p:txBody>
      </p:sp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D4D06AC7-3BAA-7950-2022-E0FF1D8C6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3676" y="914057"/>
            <a:ext cx="4571826" cy="444877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D5304C-8C2B-C08D-A4B5-66E54A6FD516}"/>
              </a:ext>
            </a:extLst>
          </p:cNvPr>
          <p:cNvSpPr txBox="1">
            <a:spLocks/>
          </p:cNvSpPr>
          <p:nvPr/>
        </p:nvSpPr>
        <p:spPr>
          <a:xfrm>
            <a:off x="7620174" y="5362832"/>
            <a:ext cx="4571826" cy="51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Cortex-M3 pipeline stages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6" y="478301"/>
            <a:ext cx="2986264" cy="654760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CPU Slots and Micro-Operations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6" y="1571575"/>
            <a:ext cx="5323063" cy="2407132"/>
          </a:xfrm>
        </p:spPr>
        <p:txBody>
          <a:bodyPr>
            <a:normAutofit fontScale="92500" lnSpcReduction="10000"/>
          </a:bodyPr>
          <a:lstStyle/>
          <a:p>
            <a:r>
              <a:rPr lang="en-GB" altLang="en-US" dirty="0"/>
              <a:t>A slot represents one opportunity for the CPU to make progress in a cycle</a:t>
            </a:r>
          </a:p>
          <a:p>
            <a:pPr lvl="1"/>
            <a:r>
              <a:rPr lang="en-GB" altLang="en-US" dirty="0"/>
              <a:t>Think of it as one place where a micro-op could have been issued</a:t>
            </a:r>
          </a:p>
          <a:p>
            <a:r>
              <a:rPr lang="en-GB" altLang="en-US" dirty="0"/>
              <a:t>Every cycle, the CPU has a limited number of slots available</a:t>
            </a:r>
          </a:p>
          <a:p>
            <a:pPr lvl="1"/>
            <a:r>
              <a:rPr lang="en-GB" altLang="en-US" dirty="0"/>
              <a:t>Each slot either does useful work, or is wasted for a specific reason</a:t>
            </a:r>
          </a:p>
        </p:txBody>
      </p:sp>
      <p:sp>
        <p:nvSpPr>
          <p:cNvPr id="5" name="AutoShape 2" descr="Stage 2 metrics for microarchitecture exploration">
            <a:extLst>
              <a:ext uri="{FF2B5EF4-FFF2-40B4-BE49-F238E27FC236}">
                <a16:creationId xmlns:a16="http://schemas.microsoft.com/office/drawing/2014/main" id="{D0C1855F-CA2C-A54D-64FE-F583ED86B2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908F2D82-57F1-B131-6EDF-3E706A230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8301"/>
            <a:ext cx="5802490" cy="315714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540F575-A1D4-79A4-2F2B-A4325D23A2E6}"/>
              </a:ext>
            </a:extLst>
          </p:cNvPr>
          <p:cNvSpPr txBox="1">
            <a:spLocks/>
          </p:cNvSpPr>
          <p:nvPr/>
        </p:nvSpPr>
        <p:spPr>
          <a:xfrm>
            <a:off x="479426" y="4082859"/>
            <a:ext cx="10702924" cy="31389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Performance analysis asks: what happened to each slot?</a:t>
            </a:r>
          </a:p>
          <a:p>
            <a:pPr lvl="1"/>
            <a:r>
              <a:rPr lang="en-GB" altLang="en-US" dirty="0"/>
              <a:t>Did it produce useful work (Retiring)?</a:t>
            </a:r>
          </a:p>
          <a:p>
            <a:pPr lvl="1"/>
            <a:r>
              <a:rPr lang="en-GB" altLang="en-US" dirty="0"/>
              <a:t>Was the frontend too slow to supply work (Frontend Bound)?</a:t>
            </a:r>
          </a:p>
          <a:p>
            <a:pPr lvl="1"/>
            <a:r>
              <a:rPr lang="en-GB" altLang="en-US" dirty="0"/>
              <a:t>Was the backend stalled waiting for data (Backend Bound)?</a:t>
            </a:r>
          </a:p>
          <a:p>
            <a:pPr lvl="1"/>
            <a:r>
              <a:rPr lang="en-GB" altLang="en-US" dirty="0"/>
              <a:t>Was it spent on work later discarded (Bad Speculation)?</a:t>
            </a:r>
          </a:p>
          <a:p>
            <a:r>
              <a:rPr lang="en-GB" altLang="en-US" dirty="0"/>
              <a:t>These four outcomes are mutually exclusive and account for every slot</a:t>
            </a:r>
            <a:endParaRPr lang="en-US" alt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3F9F3F-2222-B91A-BB86-68BE30FD1DC8}"/>
              </a:ext>
            </a:extLst>
          </p:cNvPr>
          <p:cNvSpPr txBox="1">
            <a:spLocks/>
          </p:cNvSpPr>
          <p:nvPr/>
        </p:nvSpPr>
        <p:spPr>
          <a:xfrm>
            <a:off x="6819900" y="3635441"/>
            <a:ext cx="4602340" cy="447418"/>
          </a:xfrm>
          <a:prstGeom prst="rect">
            <a:avLst/>
          </a:prstGeom>
        </p:spPr>
        <p:txBody>
          <a:bodyPr vert="horz" lIns="0" tIns="0" rIns="0" bIns="0" rtlCol="0">
            <a:normAutofit fontScale="925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Metrics for Microarchitecture exploration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Microarchitectural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A systematic method for diagnosing CPU bottlenecks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Top-Down Method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689351"/>
            <a:ext cx="10875526" cy="2832844"/>
          </a:xfrm>
        </p:spPr>
        <p:txBody>
          <a:bodyPr>
            <a:normAutofit/>
          </a:bodyPr>
          <a:lstStyle/>
          <a:p>
            <a:r>
              <a:rPr lang="en-GB" altLang="en-US" dirty="0"/>
              <a:t>Start broad, then narrow: identify the dominant bottleneck category first</a:t>
            </a:r>
          </a:p>
          <a:p>
            <a:r>
              <a:rPr lang="en-GB" altLang="en-US" dirty="0"/>
              <a:t>Every pipeline slot is classified into one of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The bucket with the largest share of slots tells you where to investigate</a:t>
            </a:r>
          </a:p>
          <a:p>
            <a:pPr lvl="1"/>
            <a:r>
              <a:rPr lang="en-GB" altLang="en-US" dirty="0"/>
              <a:t>Then narrow down within that bucket to find the specific cause</a:t>
            </a:r>
          </a:p>
          <a:p>
            <a:r>
              <a:rPr lang="en-GB" altLang="en-US" dirty="0"/>
              <a:t>This avoids wasting time optimising the wrong thing</a:t>
            </a:r>
          </a:p>
          <a:p>
            <a:pPr lvl="1"/>
            <a:r>
              <a:rPr lang="en-GB" altLang="en-US" dirty="0"/>
              <a:t>Always let the data guide the diagnosis, not intuition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1F4E8A-E44D-25E9-D0D5-58845D1AC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88" y="1237235"/>
            <a:ext cx="10132581" cy="172439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215C9-C796-461A-852F-A6CFA814D761}"/>
              </a:ext>
            </a:extLst>
          </p:cNvPr>
          <p:cNvSpPr txBox="1">
            <a:spLocks/>
          </p:cNvSpPr>
          <p:nvPr/>
        </p:nvSpPr>
        <p:spPr>
          <a:xfrm>
            <a:off x="2722325" y="2961626"/>
            <a:ext cx="5083497" cy="4464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Arm-</a:t>
            </a:r>
            <a:r>
              <a:rPr lang="en-GB" altLang="en-US" dirty="0" err="1"/>
              <a:t>Performix</a:t>
            </a:r>
            <a:r>
              <a:rPr lang="en-GB" altLang="en-US" dirty="0"/>
              <a:t> Microarchitectural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Four Buckets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075" y="3354278"/>
            <a:ext cx="11015000" cy="3198922"/>
          </a:xfrm>
        </p:spPr>
        <p:txBody>
          <a:bodyPr>
            <a:normAutofit/>
          </a:bodyPr>
          <a:lstStyle/>
          <a:p>
            <a:r>
              <a:rPr lang="en-GB" altLang="en-US" dirty="0"/>
              <a:t>Retiring: slots used for instructions that complete and produce useful results</a:t>
            </a:r>
          </a:p>
          <a:p>
            <a:pPr lvl="1"/>
            <a:r>
              <a:rPr lang="en-GB" altLang="en-US" dirty="0"/>
              <a:t>High Retiring = the CPU is converting capacity into real work</a:t>
            </a:r>
          </a:p>
          <a:p>
            <a:r>
              <a:rPr lang="en-GB" altLang="en-US" dirty="0"/>
              <a:t>Frontend Bound: the frontend cannot supply micro-ops fast enough</a:t>
            </a:r>
          </a:p>
          <a:p>
            <a:pPr lvl="1"/>
            <a:r>
              <a:rPr lang="en-GB" altLang="en-US" dirty="0"/>
              <a:t>The backend could do more, but instructions are not arriving in time</a:t>
            </a:r>
          </a:p>
          <a:p>
            <a:r>
              <a:rPr lang="en-GB" altLang="en-US" dirty="0"/>
              <a:t>Backend Bound: micro-ops arrived but cannot complete in the backend</a:t>
            </a:r>
          </a:p>
          <a:p>
            <a:pPr lvl="1"/>
            <a:r>
              <a:rPr lang="en-GB" altLang="en-US" dirty="0"/>
              <a:t>Usually waiting on data (cache misses) or busy execution units</a:t>
            </a:r>
          </a:p>
          <a:p>
            <a:r>
              <a:rPr lang="en-GB" altLang="en-US" dirty="0"/>
              <a:t>Bad Speculation: slots wasted on work that gets discarded</a:t>
            </a:r>
          </a:p>
          <a:p>
            <a:pPr lvl="1"/>
            <a:r>
              <a:rPr lang="en-GB" altLang="en-US" dirty="0"/>
              <a:t>Commonly caused by branch mispredictions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4FFBBA-1F0E-A096-58FA-4CF34F4CE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494" y="1183475"/>
            <a:ext cx="8657131" cy="147329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F81F09-DF0F-5E1C-EEFC-244F56CDBE9C}"/>
              </a:ext>
            </a:extLst>
          </p:cNvPr>
          <p:cNvSpPr txBox="1">
            <a:spLocks/>
          </p:cNvSpPr>
          <p:nvPr/>
        </p:nvSpPr>
        <p:spPr>
          <a:xfrm>
            <a:off x="2901306" y="2782318"/>
            <a:ext cx="5083497" cy="4464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Arm-</a:t>
            </a:r>
            <a:r>
              <a:rPr lang="en-GB" altLang="en-US" dirty="0" err="1"/>
              <a:t>Performix</a:t>
            </a:r>
            <a:r>
              <a:rPr lang="en-GB" altLang="en-US" dirty="0"/>
              <a:t> Microarchitectural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Frontend Bound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5636" y="3630290"/>
            <a:ext cx="10358700" cy="2503309"/>
          </a:xfrm>
        </p:spPr>
        <p:txBody>
          <a:bodyPr>
            <a:normAutofit fontScale="92500" lnSpcReduction="20000"/>
          </a:bodyPr>
          <a:lstStyle/>
          <a:p>
            <a:r>
              <a:rPr lang="en-GB" altLang="en-US" dirty="0"/>
              <a:t>The frontend is the part of the CPU that fetches and decodes instructions</a:t>
            </a:r>
          </a:p>
          <a:p>
            <a:pPr lvl="1"/>
            <a:r>
              <a:rPr lang="en-GB" altLang="en-US" dirty="0"/>
              <a:t>It feeds the backend with a stream of micro-ops to execute</a:t>
            </a:r>
          </a:p>
          <a:p>
            <a:r>
              <a:rPr lang="en-GB" altLang="en-US" dirty="0"/>
              <a:t>Frontend Bound means the instruction supply is the bottleneck</a:t>
            </a:r>
          </a:p>
          <a:p>
            <a:r>
              <a:rPr lang="en-GB" altLang="en-US" dirty="0"/>
              <a:t>Common causes of frontend stalls:</a:t>
            </a:r>
          </a:p>
          <a:p>
            <a:pPr lvl="1"/>
            <a:r>
              <a:rPr lang="en-GB" altLang="en-US" dirty="0"/>
              <a:t>Instruction cache (I-cache) misses: code not in cache, must fetch from memory</a:t>
            </a:r>
          </a:p>
          <a:p>
            <a:pPr lvl="1"/>
            <a:r>
              <a:rPr lang="en-GB" altLang="en-US" dirty="0"/>
              <a:t>ITLB misses: virtual-to-physical address translation delays</a:t>
            </a:r>
          </a:p>
          <a:p>
            <a:pPr lvl="1"/>
            <a:r>
              <a:rPr lang="en-GB" altLang="en-US" dirty="0"/>
              <a:t>Complex or long instructions that take extra decode cycles</a:t>
            </a:r>
          </a:p>
          <a:p>
            <a:pPr lvl="1"/>
            <a:r>
              <a:rPr lang="en-GB" altLang="en-US" dirty="0"/>
              <a:t>Poor code layout causing frequent jumps across cache lines</a:t>
            </a:r>
          </a:p>
          <a:p>
            <a:r>
              <a:rPr lang="en-GB" altLang="en-US" dirty="0"/>
              <a:t>Metrics to check: I-cache MPKI, ITLB walk rate, branch MPKI</a:t>
            </a:r>
            <a:endParaRPr lang="en-US" altLang="en-US" dirty="0"/>
          </a:p>
        </p:txBody>
      </p:sp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3D4A2712-59D3-EF12-9BA5-B9EA2F9D3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447824"/>
            <a:ext cx="7772400" cy="115872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8C5040-C7F6-138E-5217-9238388EAB95}"/>
              </a:ext>
            </a:extLst>
          </p:cNvPr>
          <p:cNvSpPr txBox="1">
            <a:spLocks/>
          </p:cNvSpPr>
          <p:nvPr/>
        </p:nvSpPr>
        <p:spPr>
          <a:xfrm>
            <a:off x="3293740" y="2698110"/>
            <a:ext cx="5604519" cy="446412"/>
          </a:xfrm>
          <a:prstGeom prst="rect">
            <a:avLst/>
          </a:prstGeom>
        </p:spPr>
        <p:txBody>
          <a:bodyPr vert="horz" lIns="0" tIns="0" rIns="0" bIns="0" rtlCol="0">
            <a:normAutofit fontScale="85000"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Front-end and Back-end division in an Arm “big” CPU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Backend Bound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389" y="4660900"/>
            <a:ext cx="11024525" cy="3615578"/>
          </a:xfrm>
        </p:spPr>
        <p:txBody>
          <a:bodyPr>
            <a:normAutofit/>
          </a:bodyPr>
          <a:lstStyle/>
          <a:p>
            <a:r>
              <a:rPr lang="en-GB" altLang="en-US" dirty="0"/>
              <a:t>Memory Bound is the most common backend bottleneck</a:t>
            </a:r>
          </a:p>
          <a:p>
            <a:pPr lvl="1"/>
            <a:r>
              <a:rPr lang="en-GB" altLang="en-US" dirty="0"/>
              <a:t>Data not in L1 cache forces the CPU to wait for L2, LLC, or DRAM</a:t>
            </a:r>
          </a:p>
          <a:p>
            <a:pPr lvl="1"/>
            <a:r>
              <a:rPr lang="en-GB" altLang="en-US" dirty="0"/>
              <a:t>Each level is progressively slower: L1 ~4 cycles, L2 ~12 cycles, DRAM ~100+ cycles</a:t>
            </a:r>
          </a:p>
          <a:p>
            <a:r>
              <a:rPr lang="en-GB" altLang="en-US" dirty="0"/>
              <a:t>Core Bound occurs when execution units are oversubscribed</a:t>
            </a:r>
          </a:p>
          <a:p>
            <a:pPr lvl="1"/>
            <a:r>
              <a:rPr lang="en-GB" altLang="en-US" dirty="0"/>
              <a:t>Too many instructions competing for the same functional unit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F8B3523-1EE3-9973-B8B0-02FEF17A57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4328904"/>
              </p:ext>
            </p:extLst>
          </p:nvPr>
        </p:nvGraphicFramePr>
        <p:xfrm>
          <a:off x="7187007" y="517966"/>
          <a:ext cx="4305081" cy="36155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3EB747-4623-8B45-22B3-C69FCFE8F09E}"/>
              </a:ext>
            </a:extLst>
          </p:cNvPr>
          <p:cNvSpPr txBox="1">
            <a:spLocks/>
          </p:cNvSpPr>
          <p:nvPr/>
        </p:nvSpPr>
        <p:spPr>
          <a:xfrm>
            <a:off x="337389" y="1710421"/>
            <a:ext cx="5476389" cy="361557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The backend executes micro-ops and accesses data from memory</a:t>
            </a:r>
          </a:p>
          <a:p>
            <a:r>
              <a:rPr lang="en-GB" altLang="en-US" dirty="0"/>
              <a:t>Backend Bound splits into two sub-categories:</a:t>
            </a:r>
          </a:p>
          <a:p>
            <a:pPr lvl="1"/>
            <a:r>
              <a:rPr lang="en-GB" altLang="en-US" dirty="0"/>
              <a:t>Memory Bound: stalls caused by waiting for data from the memory hierarchy</a:t>
            </a:r>
          </a:p>
          <a:p>
            <a:pPr lvl="1"/>
            <a:r>
              <a:rPr lang="en-GB" altLang="en-US" dirty="0"/>
              <a:t>Core Bound: stalls caused by insufficient execution unit throughput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Retiring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4491024"/>
            <a:ext cx="10741731" cy="1739965"/>
          </a:xfrm>
        </p:spPr>
        <p:txBody>
          <a:bodyPr>
            <a:normAutofit/>
          </a:bodyPr>
          <a:lstStyle/>
          <a:p>
            <a:endParaRPr lang="en-GB" altLang="en-US" dirty="0"/>
          </a:p>
          <a:p>
            <a:r>
              <a:rPr lang="en-GB" altLang="en-US" dirty="0"/>
              <a:t>High Retiring with 0% SIMD means the CPU is busy but inefficient</a:t>
            </a:r>
          </a:p>
          <a:p>
            <a:pPr lvl="1"/>
            <a:r>
              <a:rPr lang="en-GB" altLang="en-US" dirty="0"/>
              <a:t>Each instruction processes only one element instead of a vector</a:t>
            </a:r>
            <a:endParaRPr lang="en-US" altLang="en-US" dirty="0"/>
          </a:p>
        </p:txBody>
      </p:sp>
      <p:pic>
        <p:nvPicPr>
          <p:cNvPr id="2050" name="Picture 2">
            <a:hlinkClick r:id="rId2"/>
            <a:extLst>
              <a:ext uri="{FF2B5EF4-FFF2-40B4-BE49-F238E27FC236}">
                <a16:creationId xmlns:a16="http://schemas.microsoft.com/office/drawing/2014/main" id="{6DF35E4C-65DD-75A2-F9A4-C5677E7D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1084" y="478301"/>
            <a:ext cx="4425245" cy="369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A11F-AB5A-BA21-27F5-3497B4FAEC09}"/>
              </a:ext>
            </a:extLst>
          </p:cNvPr>
          <p:cNvSpPr txBox="1">
            <a:spLocks/>
          </p:cNvSpPr>
          <p:nvPr/>
        </p:nvSpPr>
        <p:spPr>
          <a:xfrm>
            <a:off x="479425" y="1496993"/>
            <a:ext cx="6068131" cy="3249720"/>
          </a:xfrm>
          <a:prstGeom prst="rect">
            <a:avLst/>
          </a:prstGeom>
        </p:spPr>
        <p:txBody>
          <a:bodyPr vert="horz" lIns="0" tIns="0" rIns="0" bIns="0" rtlCol="0">
            <a:normAutofit fontScale="92500" lnSpcReduction="2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Retiring represents slots where instructions completed successfully</a:t>
            </a:r>
          </a:p>
          <a:p>
            <a:pPr lvl="1"/>
            <a:r>
              <a:rPr lang="en-GB" altLang="en-US" dirty="0"/>
              <a:t>High Retiring sounds good, but check what kind of work is being done</a:t>
            </a:r>
          </a:p>
          <a:p>
            <a:r>
              <a:rPr lang="en-GB" altLang="en-US" dirty="0"/>
              <a:t>The Speculative Operation Mix breaks Retiring into instruction types:</a:t>
            </a:r>
          </a:p>
          <a:p>
            <a:pPr lvl="1"/>
            <a:r>
              <a:rPr lang="en-GB" altLang="en-US" dirty="0"/>
              <a:t>Integer operations (address calculations, loop counters)</a:t>
            </a:r>
          </a:p>
          <a:p>
            <a:pPr lvl="1"/>
            <a:r>
              <a:rPr lang="en-GB" altLang="en-US" dirty="0"/>
              <a:t>Scalar floating-point (one value at a time)</a:t>
            </a:r>
          </a:p>
          <a:p>
            <a:pPr lvl="1"/>
            <a:r>
              <a:rPr lang="en-GB" altLang="en-US" dirty="0"/>
              <a:t>SIMD / NEON (4 floats per instruction on Arm)</a:t>
            </a:r>
          </a:p>
          <a:p>
            <a:pPr lvl="1"/>
            <a:r>
              <a:rPr lang="en-GB" altLang="en-US" dirty="0"/>
              <a:t>SVE (up to 8 floats per instruction on Graviton3)</a:t>
            </a:r>
          </a:p>
          <a:p>
            <a:pPr lvl="1"/>
            <a:r>
              <a:rPr lang="en-GB" altLang="en-US" dirty="0"/>
              <a:t>Load and Store operations</a:t>
            </a:r>
          </a:p>
          <a:p>
            <a:endParaRPr lang="en-GB" altLang="en-US" dirty="0"/>
          </a:p>
          <a:p>
            <a:endParaRPr lang="en-GB" altLang="en-US" dirty="0"/>
          </a:p>
          <a:p>
            <a:pPr marL="506095" lvl="1" indent="0">
              <a:buNone/>
            </a:pPr>
            <a:endParaRPr lang="en-GB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C553CA-FDD7-D6FB-762D-214C9B4B767A}"/>
              </a:ext>
            </a:extLst>
          </p:cNvPr>
          <p:cNvSpPr txBox="1">
            <a:spLocks/>
          </p:cNvSpPr>
          <p:nvPr/>
        </p:nvSpPr>
        <p:spPr>
          <a:xfrm>
            <a:off x="7191084" y="417330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Cortex-A72 Microarchitecture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Bad Speculation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437" y="4754644"/>
            <a:ext cx="10663985" cy="1657315"/>
          </a:xfrm>
        </p:spPr>
        <p:txBody>
          <a:bodyPr>
            <a:normAutofit/>
          </a:bodyPr>
          <a:lstStyle/>
          <a:p>
            <a:r>
              <a:rPr lang="en-GB" altLang="en-US" dirty="0"/>
              <a:t>Modern CPUs predict branches correctly over 95% of the time</a:t>
            </a:r>
          </a:p>
          <a:p>
            <a:pPr lvl="1"/>
            <a:r>
              <a:rPr lang="en-GB" altLang="en-US" dirty="0"/>
              <a:t>But in tight loops, even a small misprediction rate adds up</a:t>
            </a:r>
          </a:p>
          <a:p>
            <a:r>
              <a:rPr lang="en-GB" altLang="en-US" dirty="0"/>
              <a:t>Bad Speculation is usually a small fraction of total slots</a:t>
            </a:r>
          </a:p>
          <a:p>
            <a:pPr lvl="1"/>
            <a:r>
              <a:rPr lang="en-GB" altLang="en-US" dirty="0"/>
              <a:t>If it is large, look at branch-heavy code with unpredictable patterns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63ED49-25A9-3289-6AAE-C4D291402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3" y="918568"/>
            <a:ext cx="5074712" cy="294636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FF73A1-39E9-1911-2D7F-52EC7C7144C7}"/>
              </a:ext>
            </a:extLst>
          </p:cNvPr>
          <p:cNvSpPr txBox="1">
            <a:spLocks/>
          </p:cNvSpPr>
          <p:nvPr/>
        </p:nvSpPr>
        <p:spPr>
          <a:xfrm>
            <a:off x="489437" y="1440011"/>
            <a:ext cx="5606563" cy="3314633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Bad Speculation counts slots wasted on instructions that were discarded</a:t>
            </a:r>
          </a:p>
          <a:p>
            <a:r>
              <a:rPr lang="en-GB" altLang="en-US" dirty="0"/>
              <a:t>The primary cause is branch misprediction:</a:t>
            </a:r>
          </a:p>
          <a:p>
            <a:pPr lvl="1"/>
            <a:r>
              <a:rPr lang="en-GB" altLang="en-US" dirty="0"/>
              <a:t>The CPU predicts which way a branch will go before knowing the answer</a:t>
            </a:r>
          </a:p>
          <a:p>
            <a:pPr lvl="1"/>
            <a:r>
              <a:rPr lang="en-GB" altLang="en-US" dirty="0"/>
              <a:t>If the prediction is wrong, all speculative work is thrown away</a:t>
            </a:r>
          </a:p>
          <a:p>
            <a:pPr lvl="1"/>
            <a:r>
              <a:rPr lang="en-GB" altLang="en-US" dirty="0"/>
              <a:t>The pipeline must be flushed and restarted from the correct path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E2CCC18-C05D-53BF-CD94-F29227762644}"/>
              </a:ext>
            </a:extLst>
          </p:cNvPr>
          <p:cNvSpPr txBox="1">
            <a:spLocks/>
          </p:cNvSpPr>
          <p:nvPr/>
        </p:nvSpPr>
        <p:spPr>
          <a:xfrm>
            <a:off x="6993495" y="3864931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Difficult Speculative Execution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Narrowing Hierarchy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371" y="1603246"/>
            <a:ext cx="5843629" cy="5012043"/>
          </a:xfrm>
        </p:spPr>
        <p:txBody>
          <a:bodyPr>
            <a:normAutofit fontScale="85000" lnSpcReduction="10000"/>
          </a:bodyPr>
          <a:lstStyle/>
          <a:p>
            <a:r>
              <a:rPr lang="en-GB" altLang="en-US" dirty="0"/>
              <a:t>Top-down analysis works by progressively narrowing the diagnosis</a:t>
            </a:r>
          </a:p>
          <a:p>
            <a:r>
              <a:rPr lang="en-GB" altLang="en-US" dirty="0"/>
              <a:t>Level 1: Which of the four buckets dominates?</a:t>
            </a:r>
          </a:p>
          <a:p>
            <a:pPr lvl="1"/>
            <a:r>
              <a:rPr lang="en-GB" altLang="en-US" dirty="0"/>
              <a:t>Frontend Bound, Backend Bound, Retiring, or Bad Speculation</a:t>
            </a:r>
          </a:p>
          <a:p>
            <a:r>
              <a:rPr lang="en-GB" altLang="en-US" dirty="0"/>
              <a:t>Level 2: What is the sub-category within that bucket?</a:t>
            </a:r>
          </a:p>
          <a:p>
            <a:pPr lvl="1"/>
            <a:r>
              <a:rPr lang="en-GB" altLang="en-US" dirty="0"/>
              <a:t>Backend Bound narrows to Memory Bound or Core Bound</a:t>
            </a:r>
          </a:p>
          <a:p>
            <a:pPr lvl="1"/>
            <a:r>
              <a:rPr lang="en-GB" altLang="en-US" dirty="0"/>
              <a:t>Memory Bound narrows to L1, L2, LLC, or DRAM</a:t>
            </a:r>
          </a:p>
          <a:p>
            <a:pPr lvl="1"/>
            <a:r>
              <a:rPr lang="en-GB" altLang="en-US" dirty="0"/>
              <a:t>Retiring narrows to the instruction mix (scalar vs SIMD)</a:t>
            </a:r>
          </a:p>
          <a:p>
            <a:r>
              <a:rPr lang="en-GB" altLang="en-US" dirty="0"/>
              <a:t>Level 3: Connect the specific metric to the source code</a:t>
            </a:r>
          </a:p>
          <a:p>
            <a:pPr lvl="1"/>
            <a:r>
              <a:rPr lang="en-GB" altLang="en-US" dirty="0"/>
              <a:t>High L1D miss rate with strided access pattern? Restructure data layout</a:t>
            </a:r>
          </a:p>
          <a:p>
            <a:pPr lvl="1"/>
            <a:r>
              <a:rPr lang="en-GB" altLang="en-US" dirty="0"/>
              <a:t>High Retiring but 0% SIMD? Vectorise the hot loop</a:t>
            </a:r>
          </a:p>
          <a:p>
            <a:r>
              <a:rPr lang="en-GB" altLang="en-US" dirty="0"/>
              <a:t>Each level makes the diagnosis more precise and actionable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27462A-5895-9C5C-2716-F2380A86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233" y="931333"/>
            <a:ext cx="5292342" cy="9006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EFE716-7EF6-B8EF-2850-70B6FD26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023" b="18809"/>
          <a:stretch>
            <a:fillRect/>
          </a:stretch>
        </p:blipFill>
        <p:spPr>
          <a:xfrm>
            <a:off x="6420233" y="3533646"/>
            <a:ext cx="5519396" cy="2288949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EA643558-EF27-407F-77DC-CE1EFAA4FDCC}"/>
              </a:ext>
            </a:extLst>
          </p:cNvPr>
          <p:cNvSpPr/>
          <p:nvPr/>
        </p:nvSpPr>
        <p:spPr>
          <a:xfrm>
            <a:off x="8873066" y="2190385"/>
            <a:ext cx="451557" cy="1196177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A0CC8E-1DE3-2744-E1D4-E2AD72ED303C}"/>
              </a:ext>
            </a:extLst>
          </p:cNvPr>
          <p:cNvSpPr txBox="1">
            <a:spLocks/>
          </p:cNvSpPr>
          <p:nvPr/>
        </p:nvSpPr>
        <p:spPr>
          <a:xfrm>
            <a:off x="8873066" y="2386717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Backend-bound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Hierarchy and Caches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How data movement dominates modern CPU performance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Memory Hierarchy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6" y="1449278"/>
            <a:ext cx="6024252" cy="5098278"/>
          </a:xfrm>
        </p:spPr>
        <p:txBody>
          <a:bodyPr>
            <a:normAutofit fontScale="92500" lnSpcReduction="10000"/>
          </a:bodyPr>
          <a:lstStyle/>
          <a:p>
            <a:r>
              <a:rPr lang="en-GB" altLang="en-US" dirty="0"/>
              <a:t>CPUs access data through a hierarchy of progressively larger, slower storage</a:t>
            </a:r>
          </a:p>
          <a:p>
            <a:r>
              <a:rPr lang="en-GB" altLang="en-US" dirty="0"/>
              <a:t>Registers: fastest storage, inside the CPU core</a:t>
            </a:r>
          </a:p>
          <a:p>
            <a:pPr lvl="1"/>
            <a:r>
              <a:rPr lang="en-GB" altLang="en-US" dirty="0"/>
              <a:t>Access time: ~1 cycle, size: a few KB</a:t>
            </a:r>
          </a:p>
          <a:p>
            <a:r>
              <a:rPr lang="en-GB" altLang="en-US" dirty="0"/>
              <a:t>L1 Cache: small and fast, closest cache to the core</a:t>
            </a:r>
          </a:p>
          <a:p>
            <a:pPr lvl="1"/>
            <a:r>
              <a:rPr lang="en-GB" altLang="en-US" dirty="0"/>
              <a:t>Access time: ~4 cycles, size: 32-64 KB per core</a:t>
            </a:r>
          </a:p>
          <a:p>
            <a:r>
              <a:rPr lang="en-GB" altLang="en-US" dirty="0"/>
              <a:t>L2 Cache: larger, shared or per-core depending on design</a:t>
            </a:r>
          </a:p>
          <a:p>
            <a:pPr lvl="1"/>
            <a:r>
              <a:rPr lang="en-GB" altLang="en-US" dirty="0"/>
              <a:t>Access time: ~12 cycles, size: 256 KB - 1 MB per core</a:t>
            </a:r>
          </a:p>
          <a:p>
            <a:r>
              <a:rPr lang="en-GB" altLang="en-US" dirty="0"/>
              <a:t>Last-Level Cache (LLC / L3): shared across cores</a:t>
            </a:r>
          </a:p>
          <a:p>
            <a:pPr lvl="1"/>
            <a:r>
              <a:rPr lang="en-GB" altLang="en-US" dirty="0"/>
              <a:t>Access time: ~40 cycles, size: 32-64 MB</a:t>
            </a:r>
          </a:p>
          <a:p>
            <a:r>
              <a:rPr lang="en-GB" altLang="en-US" dirty="0"/>
              <a:t>DRAM (Main Memory): large but slow</a:t>
            </a:r>
          </a:p>
          <a:p>
            <a:pPr lvl="1"/>
            <a:r>
              <a:rPr lang="en-GB" altLang="en-US" dirty="0"/>
              <a:t>Access time: ~100+ cycles, size: GBs</a:t>
            </a:r>
          </a:p>
          <a:p>
            <a:r>
              <a:rPr lang="en-GB" altLang="en-US" dirty="0"/>
              <a:t>Performance depends on keeping frequently used data close to the core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FC30DC2-9BF6-10A3-9DCE-55375E1BE6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1662233"/>
              </p:ext>
            </p:extLst>
          </p:nvPr>
        </p:nvGraphicFramePr>
        <p:xfrm>
          <a:off x="7085407" y="1645489"/>
          <a:ext cx="3785793" cy="34049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own Arrow 3">
            <a:extLst>
              <a:ext uri="{FF2B5EF4-FFF2-40B4-BE49-F238E27FC236}">
                <a16:creationId xmlns:a16="http://schemas.microsoft.com/office/drawing/2014/main" id="{287D0ED3-678E-B938-108E-5300E0C94526}"/>
              </a:ext>
            </a:extLst>
          </p:cNvPr>
          <p:cNvSpPr/>
          <p:nvPr/>
        </p:nvSpPr>
        <p:spPr>
          <a:xfrm>
            <a:off x="10987725" y="1907821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CCD19EFE-8743-1DC7-BA0E-72FD14C2D4E8}"/>
              </a:ext>
            </a:extLst>
          </p:cNvPr>
          <p:cNvSpPr/>
          <p:nvPr/>
        </p:nvSpPr>
        <p:spPr>
          <a:xfrm rot="10800000">
            <a:off x="6630215" y="1907821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6A6D944-31E4-0D0C-679C-4308D7C6091F}"/>
              </a:ext>
            </a:extLst>
          </p:cNvPr>
          <p:cNvSpPr txBox="1">
            <a:spLocks/>
          </p:cNvSpPr>
          <p:nvPr/>
        </p:nvSpPr>
        <p:spPr>
          <a:xfrm>
            <a:off x="5871851" y="1861185"/>
            <a:ext cx="242711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Faster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E220694-5ADD-5EDA-F955-D9A90029057C}"/>
              </a:ext>
            </a:extLst>
          </p:cNvPr>
          <p:cNvSpPr txBox="1">
            <a:spLocks/>
          </p:cNvSpPr>
          <p:nvPr/>
        </p:nvSpPr>
        <p:spPr>
          <a:xfrm>
            <a:off x="10193867" y="4553590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Larger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Cache Lines and Spatial Locality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6" y="1302523"/>
            <a:ext cx="6114564" cy="2693744"/>
          </a:xfrm>
        </p:spPr>
        <p:txBody>
          <a:bodyPr>
            <a:normAutofit/>
          </a:bodyPr>
          <a:lstStyle/>
          <a:p>
            <a:r>
              <a:rPr lang="en-GB" altLang="en-US" dirty="0"/>
              <a:t>The cache does not move individual bytes -- it moves cache lines</a:t>
            </a:r>
          </a:p>
          <a:p>
            <a:r>
              <a:rPr lang="en-GB" altLang="en-US" dirty="0"/>
              <a:t>Spatial locality: if you access one byte, the whole 64-byte line is loaded</a:t>
            </a:r>
          </a:p>
          <a:p>
            <a:pPr lvl="1"/>
            <a:r>
              <a:rPr lang="en-GB" altLang="en-US" dirty="0"/>
              <a:t>Accessing neighbouring data is effectively free once the line is in cache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175098-BBB8-7E0E-BCB8-0DD7EC2D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396522"/>
            <a:ext cx="5286887" cy="351796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D6857D-1B6B-6ACF-1552-E0380EBAF706}"/>
              </a:ext>
            </a:extLst>
          </p:cNvPr>
          <p:cNvSpPr txBox="1">
            <a:spLocks/>
          </p:cNvSpPr>
          <p:nvPr/>
        </p:nvSpPr>
        <p:spPr>
          <a:xfrm>
            <a:off x="195926" y="3996267"/>
            <a:ext cx="11233150" cy="238343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Temporal locality: data accessed recently is likely still in cache</a:t>
            </a:r>
          </a:p>
          <a:p>
            <a:pPr lvl="1"/>
            <a:r>
              <a:rPr lang="en-GB" altLang="en-US" dirty="0"/>
              <a:t>Reusing data before it gets evicted avoids expensive </a:t>
            </a:r>
            <a:r>
              <a:rPr lang="en-GB" altLang="en-US" dirty="0" err="1"/>
              <a:t>refetches</a:t>
            </a:r>
            <a:endParaRPr lang="en-GB" altLang="en-US" dirty="0"/>
          </a:p>
          <a:p>
            <a:r>
              <a:rPr lang="en-GB" altLang="en-US" dirty="0" err="1"/>
              <a:t>Strided</a:t>
            </a:r>
            <a:r>
              <a:rPr lang="en-GB" altLang="en-US" dirty="0"/>
              <a:t> access patterns defeat spatial locality:</a:t>
            </a:r>
          </a:p>
          <a:p>
            <a:pPr lvl="1"/>
            <a:r>
              <a:rPr lang="en-GB" altLang="en-US" dirty="0"/>
              <a:t>Jumping by N elements per iteration wastes most of each loaded cache line</a:t>
            </a:r>
          </a:p>
          <a:p>
            <a:pPr lvl="1"/>
            <a:r>
              <a:rPr lang="en-GB" altLang="en-US" dirty="0"/>
              <a:t>Only a fraction of each line is used before it is evicted</a:t>
            </a:r>
          </a:p>
          <a:p>
            <a:r>
              <a:rPr lang="en-GB" altLang="en-US" dirty="0"/>
              <a:t>Sequential (stride-1) access maximises cache line utilisation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Measuring Cache Performance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517012"/>
            <a:ext cx="6803185" cy="4556410"/>
          </a:xfrm>
        </p:spPr>
        <p:txBody>
          <a:bodyPr>
            <a:normAutofit/>
          </a:bodyPr>
          <a:lstStyle/>
          <a:p>
            <a:r>
              <a:rPr lang="en-GB" altLang="en-US" dirty="0"/>
              <a:t>MPKI: Misses Per Kilo-Instruction</a:t>
            </a:r>
          </a:p>
          <a:p>
            <a:pPr lvl="1"/>
            <a:r>
              <a:rPr lang="en-GB" altLang="en-US" dirty="0"/>
              <a:t>How many cache misses occur per 1,000 instructions executed</a:t>
            </a:r>
          </a:p>
          <a:p>
            <a:pPr lvl="1"/>
            <a:r>
              <a:rPr lang="en-GB" altLang="en-US" dirty="0"/>
              <a:t>Measured at each level: L1D MPKI, L2 MPKI, LLC MPKI</a:t>
            </a:r>
          </a:p>
          <a:p>
            <a:r>
              <a:rPr lang="en-GB" altLang="en-US" dirty="0"/>
              <a:t>Miss Ratio: the fraction of accesses that miss at a given cache level</a:t>
            </a:r>
          </a:p>
          <a:p>
            <a:pPr lvl="1"/>
            <a:r>
              <a:rPr lang="en-GB" altLang="en-US" dirty="0"/>
              <a:t>L1D miss ratio of 50% means half of all data accesses miss in L1</a:t>
            </a:r>
          </a:p>
          <a:p>
            <a:r>
              <a:rPr lang="en-GB" altLang="en-US" dirty="0"/>
              <a:t>Average Load Latency: how long loads take on average</a:t>
            </a:r>
          </a:p>
          <a:p>
            <a:pPr lvl="1"/>
            <a:r>
              <a:rPr lang="en-GB" altLang="en-US" dirty="0"/>
              <a:t>Includes hits and misses -- high values indicate poor cache behaviour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2449F-FA8C-E60A-B5FF-215AFBB6CA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76" b="18809"/>
          <a:stretch>
            <a:fillRect/>
          </a:stretch>
        </p:blipFill>
        <p:spPr>
          <a:xfrm>
            <a:off x="7723432" y="805681"/>
            <a:ext cx="3307644" cy="27911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1828B6-1653-5BF1-BB3F-E6EF9CA51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7256" y="3924249"/>
            <a:ext cx="17907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Data Layout: AoS vs SoA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6" y="1449278"/>
            <a:ext cx="6295186" cy="4545122"/>
          </a:xfrm>
        </p:spPr>
        <p:txBody>
          <a:bodyPr>
            <a:normAutofit/>
          </a:bodyPr>
          <a:lstStyle/>
          <a:p>
            <a:r>
              <a:rPr lang="en-GB" altLang="en-US" dirty="0"/>
              <a:t>Array of Structures (AoS): one struct per element, all fields together</a:t>
            </a:r>
          </a:p>
          <a:p>
            <a:pPr lvl="1"/>
            <a:r>
              <a:rPr lang="en-GB" altLang="en-US" dirty="0"/>
              <a:t>struct Particle { float x, y, z, vx, vy, vz, mass, charge, ... };</a:t>
            </a:r>
          </a:p>
          <a:p>
            <a:pPr lvl="1"/>
            <a:r>
              <a:rPr lang="en-GB" altLang="en-US" dirty="0"/>
              <a:t>Each struct may fill an entire cache line (64 bytes)</a:t>
            </a:r>
          </a:p>
          <a:p>
            <a:r>
              <a:rPr lang="en-GB" altLang="en-US" dirty="0"/>
              <a:t>Problem: if the hot loop only uses a few fields, most of each line is wasted</a:t>
            </a:r>
          </a:p>
          <a:p>
            <a:pPr lvl="1"/>
            <a:r>
              <a:rPr lang="en-GB" altLang="en-US" dirty="0"/>
              <a:t>Using 24 bytes out of 64 = 37.5% cache line utilisation</a:t>
            </a:r>
          </a:p>
          <a:p>
            <a:r>
              <a:rPr lang="en-GB" altLang="en-US" dirty="0"/>
              <a:t>Structure of Arrays (SoA): one array per field, all values contiguous</a:t>
            </a:r>
          </a:p>
          <a:p>
            <a:pPr lvl="1"/>
            <a:r>
              <a:rPr lang="en-GB" altLang="en-US" dirty="0"/>
              <a:t>float x[N]; float y[N]; float z[N]; float vx[N]; ...</a:t>
            </a:r>
          </a:p>
          <a:p>
            <a:pPr lvl="1"/>
            <a:r>
              <a:rPr lang="en-GB" altLang="en-US" dirty="0"/>
              <a:t>Every byte in each cache line is useful data for the hot loop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71568E-2866-289C-B5F7-53A192AA4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8444" y="1325100"/>
            <a:ext cx="4789311" cy="3696539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FBF66F-C885-15EA-A890-9888CA7F671B}"/>
              </a:ext>
            </a:extLst>
          </p:cNvPr>
          <p:cNvSpPr txBox="1">
            <a:spLocks/>
          </p:cNvSpPr>
          <p:nvPr/>
        </p:nvSpPr>
        <p:spPr>
          <a:xfrm>
            <a:off x="8099806" y="521367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 err="1"/>
              <a:t>AoS</a:t>
            </a:r>
            <a:r>
              <a:rPr lang="en-GB" altLang="en-US" dirty="0"/>
              <a:t> vs </a:t>
            </a:r>
            <a:r>
              <a:rPr lang="en-GB" altLang="en-US" dirty="0" err="1"/>
              <a:t>SoA</a:t>
            </a:r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Cache Line Utilisation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6709188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Cache line utilisation = bytes actually used / bytes loaded</a:t>
            </a:r>
          </a:p>
          <a:p>
            <a:pPr lvl="1"/>
            <a:r>
              <a:rPr lang="en-GB" altLang="en-US" dirty="0"/>
              <a:t>100% means every byte in the loaded line contributes to the computation</a:t>
            </a:r>
          </a:p>
          <a:p>
            <a:r>
              <a:rPr lang="en-GB" altLang="en-US" dirty="0"/>
              <a:t>Low utilisation wastes memory bandwidth and cache capacity</a:t>
            </a:r>
          </a:p>
          <a:p>
            <a:pPr lvl="1"/>
            <a:r>
              <a:rPr lang="en-GB" altLang="en-US" dirty="0"/>
              <a:t>Unused bytes displace useful data from the cache</a:t>
            </a:r>
          </a:p>
          <a:p>
            <a:pPr lvl="1"/>
            <a:r>
              <a:rPr lang="en-GB" altLang="en-US" dirty="0"/>
              <a:t>The hardware prefetcher works harder for no additional benefit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283E12-7006-D7E3-CFB0-818125046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396522"/>
            <a:ext cx="5286887" cy="351796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265277-C8F2-4DB3-D5A8-BB81717B93D4}"/>
              </a:ext>
            </a:extLst>
          </p:cNvPr>
          <p:cNvSpPr txBox="1">
            <a:spLocks/>
          </p:cNvSpPr>
          <p:nvPr/>
        </p:nvSpPr>
        <p:spPr>
          <a:xfrm>
            <a:off x="195925" y="4614527"/>
            <a:ext cx="13499857" cy="214899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Strategies to improve cache line utilisation:</a:t>
            </a:r>
          </a:p>
          <a:p>
            <a:pPr lvl="1"/>
            <a:r>
              <a:rPr lang="en-GB" altLang="en-US" dirty="0"/>
              <a:t>Restructure data layout (</a:t>
            </a:r>
            <a:r>
              <a:rPr lang="en-GB" altLang="en-US" dirty="0" err="1"/>
              <a:t>AoS</a:t>
            </a:r>
            <a:r>
              <a:rPr lang="en-GB" altLang="en-US" dirty="0"/>
              <a:t> to </a:t>
            </a:r>
            <a:r>
              <a:rPr lang="en-GB" altLang="en-US" dirty="0" err="1"/>
              <a:t>SoA</a:t>
            </a:r>
            <a:r>
              <a:rPr lang="en-GB" altLang="en-US" dirty="0"/>
              <a:t>) to separate hot and cold fields</a:t>
            </a:r>
          </a:p>
          <a:p>
            <a:pPr lvl="1"/>
            <a:r>
              <a:rPr lang="en-GB" altLang="en-US" dirty="0"/>
              <a:t>Tile loops so the working set fits in L1 or L2 cache</a:t>
            </a:r>
          </a:p>
          <a:p>
            <a:pPr lvl="1"/>
            <a:r>
              <a:rPr lang="en-GB" altLang="en-US" dirty="0"/>
              <a:t>Reorder loop nests to access data sequentially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Efficiency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Getting more work done per instruction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Scalar vs Vector (SIMD) Execution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791" y="1370256"/>
            <a:ext cx="5866209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Scalar: each instruction processes one data element</a:t>
            </a:r>
          </a:p>
          <a:p>
            <a:pPr lvl="1"/>
            <a:r>
              <a:rPr lang="en-GB" altLang="en-US" dirty="0"/>
              <a:t>One float multiply-add per cycle per instruction</a:t>
            </a:r>
          </a:p>
          <a:p>
            <a:r>
              <a:rPr lang="en-GB" altLang="en-US" dirty="0"/>
              <a:t>SIMD (Single Instruction, Multiple Data): one instruction processes multiple elements</a:t>
            </a:r>
          </a:p>
          <a:p>
            <a:pPr lvl="1"/>
            <a:r>
              <a:rPr lang="en-GB" altLang="en-US" dirty="0"/>
              <a:t>NEON (Arm): 128-bit registers, processes 4 floats simultaneously</a:t>
            </a:r>
          </a:p>
          <a:p>
            <a:pPr lvl="1"/>
            <a:r>
              <a:rPr lang="en-GB" altLang="en-US" dirty="0"/>
              <a:t>SVE (Arm Graviton3): 256-bit registers, processes 8 floats simultaneously</a:t>
            </a:r>
          </a:p>
          <a:p>
            <a:r>
              <a:rPr lang="en-GB" altLang="en-US" dirty="0"/>
              <a:t>A scalar loop leaves the vector units completely idle</a:t>
            </a:r>
          </a:p>
          <a:p>
            <a:pPr lvl="1"/>
            <a:r>
              <a:rPr lang="en-GB" altLang="en-US" dirty="0"/>
              <a:t>The CPU has hardware capacity that is simply not being used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890FAD-2111-E6BC-69A6-B756BB4A5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922" y="1686951"/>
            <a:ext cx="5475011" cy="348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Instruction Mix Analysis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7141853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The Instruction Mix counts every retired instruction by type</a:t>
            </a:r>
          </a:p>
          <a:p>
            <a:pPr lvl="1"/>
            <a:r>
              <a:rPr lang="en-GB" altLang="en-US" dirty="0"/>
              <a:t>Integer, Scalar FP, NEON, SVE, Load/Store, Branch</a:t>
            </a:r>
          </a:p>
          <a:p>
            <a:r>
              <a:rPr lang="en-GB" altLang="en-US" dirty="0"/>
              <a:t>For compute-heavy code, the Scalar FP vs SVE balance is key</a:t>
            </a:r>
          </a:p>
          <a:p>
            <a:pPr lvl="1"/>
            <a:r>
              <a:rPr lang="en-GB" altLang="en-US" dirty="0"/>
              <a:t>High Scalar FP + zero SVE = vector hardware is idle</a:t>
            </a:r>
          </a:p>
          <a:p>
            <a:r>
              <a:rPr lang="en-GB" altLang="en-US" dirty="0"/>
              <a:t>Integer and Load dominance indicates overhead</a:t>
            </a:r>
          </a:p>
          <a:p>
            <a:pPr lvl="1"/>
            <a:r>
              <a:rPr lang="en-GB" altLang="en-US" dirty="0"/>
              <a:t>Address calculations, loop counters, and scalar loads per element</a:t>
            </a:r>
          </a:p>
          <a:p>
            <a:pPr lvl="1"/>
            <a:r>
              <a:rPr lang="en-GB" altLang="en-US" dirty="0"/>
              <a:t>Vectorised code amortises this overhead across a vector width</a:t>
            </a:r>
          </a:p>
          <a:p>
            <a:r>
              <a:rPr lang="en-GB" altLang="en-US" dirty="0"/>
              <a:t>Always check instruction mix after applying a vectorisation fix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FDE248-17E6-E900-B00A-195E82314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523" y="0"/>
            <a:ext cx="26934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Optimisation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A repeatable process for performance engineering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Profile, Diagnose, Fix, Re-profile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9568964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Step 1 -- Profile: collect hardware counter data on the unmodified workload</a:t>
            </a:r>
          </a:p>
          <a:p>
            <a:pPr lvl="1"/>
            <a:r>
              <a:rPr lang="en-GB" altLang="en-US" dirty="0"/>
              <a:t>Use the right recipe for the question (Topdown, Memory Access, Instruction Mix)</a:t>
            </a:r>
          </a:p>
          <a:p>
            <a:r>
              <a:rPr lang="en-GB" altLang="en-US" dirty="0"/>
              <a:t>Step 2 -- Diagnose: identify the dominant bottleneck from the profile</a:t>
            </a:r>
          </a:p>
          <a:p>
            <a:pPr lvl="1"/>
            <a:r>
              <a:rPr lang="en-GB" altLang="en-US" dirty="0"/>
              <a:t>Start with the largest bucket, then narrow using sub-metrics</a:t>
            </a:r>
          </a:p>
          <a:p>
            <a:pPr lvl="1"/>
            <a:r>
              <a:rPr lang="en-GB" altLang="en-US" dirty="0"/>
              <a:t>Connect the metric to specific source code</a:t>
            </a:r>
          </a:p>
          <a:p>
            <a:r>
              <a:rPr lang="en-GB" altLang="en-US" dirty="0"/>
              <a:t>Step 3 -- Fix: apply a targeted change that addresses the diagnosed bottleneck</a:t>
            </a:r>
          </a:p>
          <a:p>
            <a:pPr lvl="1"/>
            <a:r>
              <a:rPr lang="en-GB" altLang="en-US" dirty="0"/>
              <a:t>Memory Bound? Tile loops or restructure data layout</a:t>
            </a:r>
          </a:p>
          <a:p>
            <a:pPr lvl="1"/>
            <a:r>
              <a:rPr lang="en-GB" altLang="en-US" dirty="0"/>
              <a:t>Scalar compute? Vectorise with SIMD intrinsics or optimised libraries</a:t>
            </a:r>
          </a:p>
          <a:p>
            <a:r>
              <a:rPr lang="en-GB" altLang="en-US" dirty="0"/>
              <a:t>Step 4 -- Re-profile: verify the fix worked as expected</a:t>
            </a:r>
          </a:p>
          <a:p>
            <a:pPr lvl="1"/>
            <a:r>
              <a:rPr lang="en-GB" altLang="en-US" dirty="0"/>
              <a:t>Never assume -- compare before/after profiles to confirm the bottleneck shifted</a:t>
            </a:r>
          </a:p>
          <a:p>
            <a:r>
              <a:rPr lang="en-GB" altLang="en-US" dirty="0"/>
              <a:t>Repeat: the new profile reveals the next bottleneck to address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Key Takeaways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550878"/>
            <a:ext cx="9343186" cy="4522544"/>
          </a:xfrm>
        </p:spPr>
        <p:txBody>
          <a:bodyPr>
            <a:normAutofit/>
          </a:bodyPr>
          <a:lstStyle/>
          <a:p>
            <a:r>
              <a:rPr lang="en-GB" altLang="en-US" dirty="0"/>
              <a:t>Performance engineering is measurement-driven, not guesswork</a:t>
            </a:r>
          </a:p>
          <a:p>
            <a:pPr lvl="1"/>
            <a:r>
              <a:rPr lang="en-GB" altLang="en-US" dirty="0"/>
              <a:t>Always profile before optimising -- fix the real bottleneck, not the assumed one</a:t>
            </a:r>
          </a:p>
          <a:p>
            <a:r>
              <a:rPr lang="en-GB" altLang="en-US" dirty="0"/>
              <a:t>The Top-Down method classifies every CPU slot into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Memory hierarchy behaviour dominates most workload performance</a:t>
            </a:r>
          </a:p>
          <a:p>
            <a:pPr lvl="1"/>
            <a:r>
              <a:rPr lang="en-GB" altLang="en-US" dirty="0"/>
              <a:t>Cache misses, data layout, and working set size are critical</a:t>
            </a:r>
          </a:p>
          <a:p>
            <a:r>
              <a:rPr lang="en-GB" altLang="en-US" dirty="0"/>
              <a:t>Instruction mix reveals whether vector hardware is being utilised</a:t>
            </a:r>
          </a:p>
          <a:p>
            <a:pPr lvl="1"/>
            <a:r>
              <a:rPr lang="en-GB" altLang="en-US" dirty="0"/>
              <a:t>Scalar code on SIMD-capable hardware leaves performance on the table</a:t>
            </a:r>
          </a:p>
          <a:p>
            <a:r>
              <a:rPr lang="en-GB" altLang="en-US" dirty="0"/>
              <a:t>The optimisation loop: Profile, Diagnose, Fix, Re-profile</a:t>
            </a:r>
          </a:p>
          <a:p>
            <a:pPr lvl="1"/>
            <a:r>
              <a:rPr lang="en-GB" altLang="en-US" dirty="0"/>
              <a:t>Each iteration reveals the next bottleneck -- repeat until satisfied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theme/theme1.xml><?xml version="1.0" encoding="utf-8"?>
<a:theme xmlns:a="http://schemas.openxmlformats.org/drawingml/2006/main" name="Arm_Public_2024">
  <a:themeElements>
    <a:clrScheme name="Arm PPT">
      <a:dk1>
        <a:srgbClr val="000000"/>
      </a:dk1>
      <a:lt1>
        <a:srgbClr val="FFFFFF"/>
      </a:lt1>
      <a:dk2>
        <a:srgbClr val="333E48"/>
      </a:dk2>
      <a:lt2>
        <a:srgbClr val="E5ECEB"/>
      </a:lt2>
      <a:accent1>
        <a:srgbClr val="0091BD"/>
      </a:accent1>
      <a:accent2>
        <a:srgbClr val="002B49"/>
      </a:accent2>
      <a:accent3>
        <a:srgbClr val="FFC700"/>
      </a:accent3>
      <a:accent4>
        <a:srgbClr val="95D600"/>
      </a:accent4>
      <a:accent5>
        <a:srgbClr val="FF6B00"/>
      </a:accent5>
      <a:accent6>
        <a:srgbClr val="7D868C"/>
      </a:accent6>
      <a:hlink>
        <a:srgbClr val="00C1DE"/>
      </a:hlink>
      <a:folHlink>
        <a:srgbClr val="002F6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25AA46A6-F8D0-4647-865D-F700FAFED8F6}" vid="{255BEF51-55C5-A743-A761-05EE3BF481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customXsn xmlns="http://schemas.microsoft.com/office/2006/metadata/customXsn">
  <xsnLocation/>
  <cached>True</cached>
  <openByDefault>True</openByDefault>
  <xsnScope/>
</customXsn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ARM Document" ma:contentTypeID="0x0101005C6975769EB1684CAB07571CAE07A11B0100BC81FA0C64ACC243A77959D9266C7751" ma:contentTypeVersion="27" ma:contentTypeDescription="" ma:contentTypeScope="" ma:versionID="c3d44a507a30e34bb56df6cb41b0e970">
  <xsd:schema xmlns:xsd="http://www.w3.org/2001/XMLSchema" xmlns:xs="http://www.w3.org/2001/XMLSchema" xmlns:p="http://schemas.microsoft.com/office/2006/metadata/properties" xmlns:ns1="http://schemas.microsoft.com/sharepoint/v3" xmlns:ns2="f2ad5090-61a8-4b8c-ab70-68f4ff4d1933" xmlns:ns3="http://schemas.microsoft.com/sharepoint/v3/fields" xmlns:ns4="c0950e01-db07-4e41-9c32-b7a8e9fccc9b" targetNamespace="http://schemas.microsoft.com/office/2006/metadata/properties" ma:root="true" ma:fieldsID="d6365f768a9cf65e3d0aaa644537f94f" ns1:_="" ns2:_="" ns3:_="" ns4:_="">
    <xsd:import namespace="http://schemas.microsoft.com/sharepoint/v3"/>
    <xsd:import namespace="f2ad5090-61a8-4b8c-ab70-68f4ff4d1933"/>
    <xsd:import namespace="http://schemas.microsoft.com/sharepoint/v3/fields"/>
    <xsd:import namespace="c0950e01-db07-4e41-9c32-b7a8e9fccc9b"/>
    <xsd:element name="properties">
      <xsd:complexType>
        <xsd:sequence>
          <xsd:element name="documentManagement">
            <xsd:complexType>
              <xsd:all>
                <xsd:element ref="ns1:RoutingRuleDescription" minOccurs="0"/>
                <xsd:element ref="ns2:Document_x0020_Author" minOccurs="0"/>
                <xsd:element ref="ns3:_Status"/>
                <xsd:element ref="ns2:Document_x0020_Confidentiality"/>
                <xsd:element ref="ns2:_dlc_DocId" minOccurs="0"/>
                <xsd:element ref="ns2:_dlc_DocIdUrl" minOccurs="0"/>
                <xsd:element ref="ns2:_dlc_DocIdPersistId" minOccurs="0"/>
                <xsd:element ref="ns2:ARM_x0020_Legacy_x0020_ID" minOccurs="0"/>
                <xsd:element ref="ns2:Current_x0020_Version" minOccurs="0"/>
                <xsd:element ref="ns2:j60c3ced31bb40378c6254d49035d966" minOccurs="0"/>
                <xsd:element ref="ns2:TaxCatchAll" minOccurs="0"/>
                <xsd:element ref="ns2:TaxCatchAllLabel" minOccurs="0"/>
                <xsd:element ref="ns4:Categor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RoutingRuleDescription" ma:index="2" nillable="true" ma:displayName="Description" ma:internalName="RoutingRuleDescription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ad5090-61a8-4b8c-ab70-68f4ff4d1933" elementFormDefault="qualified">
    <xsd:import namespace="http://schemas.microsoft.com/office/2006/documentManagement/types"/>
    <xsd:import namespace="http://schemas.microsoft.com/office/infopath/2007/PartnerControls"/>
    <xsd:element name="Document_x0020_Author" ma:index="3" nillable="true" ma:displayName="Document Author" ma:list="UserInfo" ma:SharePointGroup="0" ma:internalName="Document_x0020_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ocument_x0020_Confidentiality" ma:index="5" ma:displayName="Document Confidentiality" ma:default="Confidential" ma:format="Dropdown" ma:internalName="Document_x0020_Confidentiality">
      <xsd:simpleType>
        <xsd:restriction base="dms:Choice">
          <xsd:enumeration value="Secret"/>
          <xsd:enumeration value="Confidential-Restricted"/>
          <xsd:enumeration value="Confidential"/>
          <xsd:enumeration value="Non-Confidential"/>
          <xsd:enumeration value="Personal"/>
        </xsd:restriction>
      </xsd:simpleType>
    </xsd:element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M_x0020_Legacy_x0020_ID" ma:index="16" nillable="true" ma:displayName="ARM Legacy ID" ma:internalName="ARM_x0020_Legacy_x0020_ID">
      <xsd:simpleType>
        <xsd:restriction base="dms:Text">
          <xsd:maxLength value="255"/>
        </xsd:restriction>
      </xsd:simpleType>
    </xsd:element>
    <xsd:element name="Current_x0020_Version" ma:index="17" nillable="true" ma:displayName="Current Version" ma:description="The current version number of the file in SharePoint." ma:internalName="Current_x0020_Version" ma:readOnly="false">
      <xsd:simpleType>
        <xsd:restriction base="dms:Text">
          <xsd:maxLength value="255"/>
        </xsd:restriction>
      </xsd:simpleType>
    </xsd:element>
    <xsd:element name="j60c3ced31bb40378c6254d49035d966" ma:index="18" nillable="true" ma:taxonomy="true" ma:internalName="j60c3ced31bb40378c6254d49035d966" ma:taxonomyFieldName="Calendar_x0020_Year" ma:displayName="Calendar Year" ma:readOnly="false" ma:default="7;#2017|58467e81-5d99-44a5-abb5-12a016b65e9e" ma:fieldId="{360c3ced-31bb-4037-8c62-54d49035d966}" ma:sspId="982c6e79-63e2-4d63-9b21-99d1544b0b75" ma:termSetId="c604d99f-773e-49a6-a2c0-6d4bc754112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9" nillable="true" ma:displayName="Taxonomy Catch All Column" ma:hidden="true" ma:list="{a9424fa9-fdb0-43c3-9a79-ae027323b92a}" ma:internalName="TaxCatchAll" ma:showField="CatchAllData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0" nillable="true" ma:displayName="Taxonomy Catch All Column1" ma:hidden="true" ma:list="{a9424fa9-fdb0-43c3-9a79-ae027323b92a}" ma:internalName="TaxCatchAllLabel" ma:readOnly="true" ma:showField="CatchAllDataLabel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4" ma:displayName="Status" ma:default="Not Started" ma:internalName="_Status" ma:readOnly="false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950e01-db07-4e41-9c32-b7a8e9fccc9b" elementFormDefault="qualified">
    <xsd:import namespace="http://schemas.microsoft.com/office/2006/documentManagement/types"/>
    <xsd:import namespace="http://schemas.microsoft.com/office/infopath/2007/PartnerControls"/>
    <xsd:element name="Category" ma:index="22" nillable="true" ma:displayName="Category" ma:format="Dropdown" ma:internalName="Category">
      <xsd:simpleType>
        <xsd:restriction base="dms:Choice">
          <xsd:enumeration value="Word Documents - UK"/>
          <xsd:enumeration value="Word Documents - US"/>
          <xsd:enumeration value="Board Presentation Templates"/>
          <xsd:enumeration value="Public Presentation Templates"/>
          <xsd:enumeration value="Private Presentation Templat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 ma:index="6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axOccurs="1" ma:displayName="Status">
          <xsd:simpleType xmlns:xs="http://www.w3.org/2001/XMLSchema">
            <xsd:restriction base="xsd:string">
              <xsd:minLength value="1"/>
            </xsd:restriction>
          </xsd:simpleType>
        </xsd:element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rrent_x0020_Version xmlns="f2ad5090-61a8-4b8c-ab70-68f4ff4d1933">9.0</Current_x0020_Version>
    <Document_x0020_Author xmlns="f2ad5090-61a8-4b8c-ab70-68f4ff4d1933">
      <UserInfo>
        <DisplayName/>
        <AccountId xsi:nil="true"/>
        <AccountType/>
      </UserInfo>
    </Document_x0020_Author>
    <_dlc_DocId xmlns="f2ad5090-61a8-4b8c-ab70-68f4ff4d1933">ARM-ECM-0633231</_dlc_DocId>
    <Document_x0020_Confidentiality xmlns="f2ad5090-61a8-4b8c-ab70-68f4ff4d1933">Confidential-Restricted</Document_x0020_Confidentiality>
    <_dlc_DocIdUrl xmlns="f2ad5090-61a8-4b8c-ab70-68f4ff4d1933">
      <Url>http://teamsites.arm.com/sites/cthub/_layouts/DocIdRedir.aspx?ID=ARM-ECM-0633231</Url>
      <Description>ARM-ECM-0633231</Description>
    </_dlc_DocIdUrl>
    <Category xmlns="c0950e01-db07-4e41-9c32-b7a8e9fccc9b">Private Presentation Templates</Category>
    <ARM_x0020_Legacy_x0020_ID xmlns="f2ad5090-61a8-4b8c-ab70-68f4ff4d1933" xsi:nil="true"/>
    <TaxCatchAll xmlns="f2ad5090-61a8-4b8c-ab70-68f4ff4d1933">
      <Value>7</Value>
      <Value>1</Value>
    </TaxCatchAll>
    <j60c3ced31bb40378c6254d49035d966 xmlns="f2ad5090-61a8-4b8c-ab70-68f4ff4d1933">
      <Terms xmlns="http://schemas.microsoft.com/office/infopath/2007/PartnerControls">
        <TermInfo xmlns="http://schemas.microsoft.com/office/infopath/2007/PartnerControls">
          <TermName xmlns="http://schemas.microsoft.com/office/infopath/2007/PartnerControls">2017</TermName>
          <TermId xmlns="http://schemas.microsoft.com/office/infopath/2007/PartnerControls">58467e81-5d99-44a5-abb5-12a016b65e9e</TermId>
        </TermInfo>
      </Terms>
    </j60c3ced31bb40378c6254d49035d966>
    <RoutingRuleDescription xmlns="http://schemas.microsoft.com/sharepoint/v3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C959113B-7FA4-40AB-AF85-5C5588D4771C}">
  <ds:schemaRefs>
    <ds:schemaRef ds:uri="http://schemas.microsoft.com/office/2006/metadata/customXsn"/>
  </ds:schemaRefs>
</ds:datastoreItem>
</file>

<file path=customXml/itemProps2.xml><?xml version="1.0" encoding="utf-8"?>
<ds:datastoreItem xmlns:ds="http://schemas.openxmlformats.org/officeDocument/2006/customXml" ds:itemID="{5675509F-A6F5-4147-861D-E4CC99F48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2ad5090-61a8-4b8c-ab70-68f4ff4d1933"/>
    <ds:schemaRef ds:uri="http://schemas.microsoft.com/sharepoint/v3/fields"/>
    <ds:schemaRef ds:uri="c0950e01-db07-4e41-9c32-b7a8e9fccc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E7F2E56-8924-419D-99E9-79DB71144EB2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82EFBBFE-5AFC-4CAD-AD38-1CB870BDB255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B61D4E06-5D3F-4994-A4A7-4BA626FA722D}">
  <ds:schemaRefs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sharepoint/v3/fields"/>
    <ds:schemaRef ds:uri="http://purl.org/dc/terms/"/>
    <ds:schemaRef ds:uri="f2ad5090-61a8-4b8c-ab70-68f4ff4d1933"/>
    <ds:schemaRef ds:uri="http://schemas.microsoft.com/office/infopath/2007/PartnerControls"/>
    <ds:schemaRef ds:uri="http://schemas.microsoft.com/office/2006/documentManagement/types"/>
    <ds:schemaRef ds:uri="c0950e01-db07-4e41-9c32-b7a8e9fccc9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Arm_Public_2024</Template>
  <TotalTime>11002</TotalTime>
  <Words>2041</Words>
  <Application>Microsoft Macintosh PowerPoint</Application>
  <PresentationFormat>Widescreen</PresentationFormat>
  <Paragraphs>231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ＭＳ Ｐゴシック</vt:lpstr>
      <vt:lpstr>Arial</vt:lpstr>
      <vt:lpstr>Calibri</vt:lpstr>
      <vt:lpstr>system-ui</vt:lpstr>
      <vt:lpstr>Wingdings</vt:lpstr>
      <vt:lpstr>Arm_Public_2024</vt:lpstr>
      <vt:lpstr>Principles of Performance Engineering</vt:lpstr>
      <vt:lpstr>Why Performance Engineering?</vt:lpstr>
      <vt:lpstr>What is Performance Engineering?</vt:lpstr>
      <vt:lpstr>The Modern CPU Pipeline</vt:lpstr>
      <vt:lpstr>CPU Slots and Micro-Operations</vt:lpstr>
      <vt:lpstr>Top-Down Microarchitectural Analysis</vt:lpstr>
      <vt:lpstr>The Top-Down Method</vt:lpstr>
      <vt:lpstr>The Four Buckets</vt:lpstr>
      <vt:lpstr>Frontend Bound</vt:lpstr>
      <vt:lpstr>Backend Bound</vt:lpstr>
      <vt:lpstr>Retiring</vt:lpstr>
      <vt:lpstr>Bad Speculation</vt:lpstr>
      <vt:lpstr>The Narrowing Hierarchy</vt:lpstr>
      <vt:lpstr>Memory Hierarchy and Caches</vt:lpstr>
      <vt:lpstr>The Memory Hierarchy</vt:lpstr>
      <vt:lpstr>Cache Lines and Spatial Locality</vt:lpstr>
      <vt:lpstr>Measuring Cache Performance</vt:lpstr>
      <vt:lpstr>Data Layout: AoS vs SoA</vt:lpstr>
      <vt:lpstr>Cache Line Utilisation</vt:lpstr>
      <vt:lpstr>Compute Efficiency</vt:lpstr>
      <vt:lpstr>Scalar vs Vector (SIMD) Execution</vt:lpstr>
      <vt:lpstr>Instruction Mix Analysis</vt:lpstr>
      <vt:lpstr>The Optimisation Workflow</vt:lpstr>
      <vt:lpstr>Profile, Diagnose, Fix, Re-profile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Oliver Grainge</dc:creator>
  <cp:keywords/>
  <dc:description/>
  <cp:lastModifiedBy>Oliver Grainge</cp:lastModifiedBy>
  <cp:revision>137</cp:revision>
  <dcterms:created xsi:type="dcterms:W3CDTF">2024-11-20T09:48:17Z</dcterms:created>
  <dcterms:modified xsi:type="dcterms:W3CDTF">2026-03-27T13:51:58Z</dcterms:modified>
  <cp:category/>
  <cp:contentStatus>Published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45c40ffca3445d9bf3205a60bd2f6d6">
    <vt:lpwstr>Confidential|28d1025d-1415-4984-b35e-5b79e7d32b5c</vt:lpwstr>
  </property>
  <property fmtid="{D5CDD505-2E9C-101B-9397-08002B2CF9AE}" pid="3" name="TaxKeyword">
    <vt:lpwstr/>
  </property>
  <property fmtid="{D5CDD505-2E9C-101B-9397-08002B2CF9AE}" pid="4" name="_dlc_policyId">
    <vt:lpwstr>0x0101004E4B3E189D714F49A85ED613D6AE4F95|-1756139441</vt:lpwstr>
  </property>
  <property fmtid="{D5CDD505-2E9C-101B-9397-08002B2CF9AE}" pid="5" name="_dlc_DocIdItemGuid">
    <vt:lpwstr>e89a121e-355c-4cb1-879e-045fefeb8c84</vt:lpwstr>
  </property>
  <property fmtid="{D5CDD505-2E9C-101B-9397-08002B2CF9AE}" pid="6" name="_dlc_ItemStageId">
    <vt:lpwstr>1</vt:lpwstr>
  </property>
  <property fmtid="{D5CDD505-2E9C-101B-9397-08002B2CF9AE}" pid="7" name="j60c3ced31bb40378c6254d49035d966">
    <vt:lpwstr>2015|ee47c3e7-6a69-4f36-9adf-1007c8d399a4</vt:lpwstr>
  </property>
  <property fmtid="{D5CDD505-2E9C-101B-9397-08002B2CF9AE}" pid="8" name="vti_description">
    <vt:lpwstr/>
  </property>
  <property fmtid="{D5CDD505-2E9C-101B-9397-08002B2CF9AE}" pid="9" name="WorkflowChangePath">
    <vt:lpwstr>1069b4ef-e6f3-4ad7-8c8e-772136578697,10;</vt:lpwstr>
  </property>
  <property fmtid="{D5CDD505-2E9C-101B-9397-08002B2CF9AE}" pid="10" name="Confidentiality">
    <vt:lpwstr>1;#Confidential|28d1025d-1415-4984-b35e-5b79e7d32b5c</vt:lpwstr>
  </property>
  <property fmtid="{D5CDD505-2E9C-101B-9397-08002B2CF9AE}" pid="11" name="ContentTypeId">
    <vt:lpwstr>0x0101005C6975769EB1684CAB07571CAE07A11B0100BC81FA0C64ACC243A77959D9266C7751</vt:lpwstr>
  </property>
  <property fmtid="{D5CDD505-2E9C-101B-9397-08002B2CF9AE}" pid="12" name="Calendar Year">
    <vt:lpwstr>7;#2017|58467e81-5d99-44a5-abb5-12a016b65e9e</vt:lpwstr>
  </property>
  <property fmtid="{D5CDD505-2E9C-101B-9397-08002B2CF9AE}" pid="13" name="TaxCatchAll">
    <vt:lpwstr/>
  </property>
  <property fmtid="{D5CDD505-2E9C-101B-9397-08002B2CF9AE}" pid="14" name="TaxKeywordTaxHTField">
    <vt:lpwstr/>
  </property>
  <property fmtid="{D5CDD505-2E9C-101B-9397-08002B2CF9AE}" pid="15" name="ItemRetentionFormula">
    <vt:lpwstr/>
  </property>
  <property fmtid="{D5CDD505-2E9C-101B-9397-08002B2CF9AE}" pid="16" name="_dlc_LastRun">
    <vt:lpwstr>08/15/2015 23:02:11</vt:lpwstr>
  </property>
</Properties>
</file>